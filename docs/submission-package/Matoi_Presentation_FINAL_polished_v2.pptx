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695" cy="6858000" type="screen4x3"/>
  <p:notesSz cx="12191695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0" y="0"/>
            <a:ext cx="12191695" cy="41148"/>
          </a:xfrm>
          <a:prstGeom prst="rect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530352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1" i="0" spc="130">
                <a:solidFill>
                  <a:srgbClr val="A669FF"/>
                </a:solidFill>
                <a:latin typeface="Inter Display"/>
              </a:rPr>
              <a:t>MATOI</a:t>
            </a:r>
            <a:endParaRPr/>
          </a:p>
        </p:txBody>
      </p:sp>
      <p:cxnSp>
        <p:nvCxnSpPr>
          <p:cNvPr id="5" name="Connector 4"/>
          <p:cNvCxnSpPr>
            <a:cxnSpLocks/>
          </p:cNvCxnSpPr>
          <p:nvPr/>
        </p:nvCxnSpPr>
        <p:spPr bwMode="auto">
          <a:xfrm>
            <a:off x="530352" y="859536"/>
            <a:ext cx="11128248" cy="0"/>
          </a:xfrm>
          <a:prstGeom prst="line">
            <a:avLst/>
          </a:prstGeom>
          <a:ln w="8890">
            <a:solidFill>
              <a:srgbClr val="463C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 bwMode="auto">
          <a:xfrm>
            <a:off x="530351" y="2167127"/>
            <a:ext cx="6904440" cy="1402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4600" b="1" i="0">
                <a:solidFill>
                  <a:srgbClr val="F5F3F8"/>
                </a:solidFill>
                <a:latin typeface="Inter Display"/>
              </a:rPr>
              <a:t>A </a:t>
            </a:r>
            <a:r>
              <a:rPr sz="4600" b="1" i="0">
                <a:solidFill>
                  <a:srgbClr val="743AFF"/>
                </a:solidFill>
                <a:latin typeface="Inter Display"/>
              </a:rPr>
              <a:t>market </a:t>
            </a:r>
            <a:r>
              <a:rPr sz="4600" b="1" i="0">
                <a:solidFill>
                  <a:srgbClr val="F5F3F8"/>
                </a:solidFill>
                <a:latin typeface="Inter Display"/>
              </a:rPr>
              <a:t>for</a:t>
            </a:r>
            <a:br>
              <a:rPr sz="4600" b="1" i="0">
                <a:solidFill>
                  <a:srgbClr val="F5F3F8"/>
                </a:solidFill>
                <a:latin typeface="Inter Display"/>
              </a:rPr>
            </a:br>
            <a:r>
              <a:rPr sz="4600" b="1" i="0">
                <a:solidFill>
                  <a:srgbClr val="F5F3F8"/>
                </a:solidFill>
                <a:latin typeface="Inter Display"/>
              </a:rPr>
              <a:t>AI intelligence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30351" y="3685032"/>
            <a:ext cx="6173279" cy="488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600" b="0" i="1">
                <a:solidFill>
                  <a:srgbClr val="BAB5C7"/>
                </a:solidFill>
                <a:latin typeface="Inter"/>
              </a:rPr>
              <a:t>Autonomous agents discover information, judge its value,</a:t>
            </a:r>
            <a:br>
              <a:rPr sz="1600" b="0" i="1">
                <a:solidFill>
                  <a:srgbClr val="BAB5C7"/>
                </a:solidFill>
                <a:latin typeface="Inter"/>
              </a:rPr>
            </a:br>
            <a:r>
              <a:rPr sz="1600" b="0" i="1">
                <a:solidFill>
                  <a:srgbClr val="BAB5C7"/>
                </a:solidFill>
                <a:latin typeface="Inter"/>
              </a:rPr>
              <a:t>pay per request, and prove every move onchain</a:t>
            </a:r>
            <a:endParaRPr sz="1600" i="1"/>
          </a:p>
        </p:txBody>
      </p:sp>
      <p:sp>
        <p:nvSpPr>
          <p:cNvPr id="10" name="Rectangle 9"/>
          <p:cNvSpPr/>
          <p:nvPr/>
        </p:nvSpPr>
        <p:spPr bwMode="auto">
          <a:xfrm>
            <a:off x="7452360" y="1170432"/>
            <a:ext cx="4160519" cy="3977639"/>
          </a:xfrm>
          <a:prstGeom prst="rect">
            <a:avLst/>
          </a:prstGeom>
          <a:solidFill>
            <a:srgbClr val="14101F"/>
          </a:solidFill>
          <a:ln w="10160">
            <a:solidFill>
              <a:srgbClr val="2D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 bwMode="auto">
          <a:xfrm>
            <a:off x="7680960" y="1408176"/>
            <a:ext cx="3712463" cy="3529584"/>
          </a:xfrm>
          <a:prstGeom prst="rect">
            <a:avLst/>
          </a:prstGeom>
          <a:noFill/>
          <a:ln w="10160">
            <a:solidFill>
              <a:srgbClr val="2B1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 bwMode="auto">
          <a:xfrm>
            <a:off x="7927848" y="1664208"/>
            <a:ext cx="3218688" cy="3017519"/>
          </a:xfrm>
          <a:prstGeom prst="rect">
            <a:avLst/>
          </a:prstGeom>
          <a:noFill/>
          <a:ln w="7620">
            <a:solidFill>
              <a:srgbClr val="362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3" name="Connector 12"/>
          <p:cNvCxnSpPr>
            <a:cxnSpLocks/>
          </p:cNvCxnSpPr>
          <p:nvPr/>
        </p:nvCxnSpPr>
        <p:spPr bwMode="auto">
          <a:xfrm flipH="1" flipV="1">
            <a:off x="8339327" y="2057400"/>
            <a:ext cx="1207009" cy="886968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 bwMode="auto">
          <a:xfrm flipV="1">
            <a:off x="9546336" y="1975104"/>
            <a:ext cx="1289304" cy="969264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</p:cNvCxnSpPr>
          <p:nvPr/>
        </p:nvCxnSpPr>
        <p:spPr bwMode="auto">
          <a:xfrm flipH="1">
            <a:off x="8339327" y="2944368"/>
            <a:ext cx="1207009" cy="1097280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 bwMode="auto">
          <a:xfrm>
            <a:off x="9546336" y="2944368"/>
            <a:ext cx="1298448" cy="1188719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 bwMode="auto">
          <a:xfrm flipV="1">
            <a:off x="8339327" y="1975104"/>
            <a:ext cx="2496313" cy="82296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</p:cNvCxnSpPr>
          <p:nvPr/>
        </p:nvCxnSpPr>
        <p:spPr bwMode="auto">
          <a:xfrm>
            <a:off x="8339327" y="4041648"/>
            <a:ext cx="2505457" cy="91439"/>
          </a:xfrm>
          <a:prstGeom prst="line">
            <a:avLst/>
          </a:prstGeom>
          <a:ln w="11430">
            <a:solidFill>
              <a:srgbClr val="533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 bwMode="auto">
          <a:xfrm>
            <a:off x="9144000" y="2542032"/>
            <a:ext cx="804672" cy="804672"/>
          </a:xfrm>
          <a:prstGeom prst="ellipse">
            <a:avLst/>
          </a:prstGeom>
          <a:solidFill>
            <a:srgbClr val="743AFF"/>
          </a:solidFill>
          <a:ln w="15240">
            <a:solidFill>
              <a:srgbClr val="A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 flipH="0" flipV="0">
            <a:off x="9304019" y="2837507"/>
            <a:ext cx="508336" cy="213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F5F3F8"/>
                </a:solidFill>
                <a:latin typeface="Inter"/>
              </a:rPr>
              <a:t>BUY</a:t>
            </a:r>
            <a:endParaRPr sz="1400"/>
          </a:p>
        </p:txBody>
      </p:sp>
      <p:sp>
        <p:nvSpPr>
          <p:cNvPr id="21" name="Oval 20"/>
          <p:cNvSpPr/>
          <p:nvPr/>
        </p:nvSpPr>
        <p:spPr bwMode="auto">
          <a:xfrm>
            <a:off x="8019288" y="1737360"/>
            <a:ext cx="640080" cy="640080"/>
          </a:xfrm>
          <a:prstGeom prst="ellipse">
            <a:avLst/>
          </a:prstGeom>
          <a:solidFill>
            <a:srgbClr val="1A1428"/>
          </a:solidFill>
          <a:ln w="12700">
            <a:solidFill>
              <a:srgbClr val="A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019288" y="1965960"/>
            <a:ext cx="640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1" i="0">
                <a:solidFill>
                  <a:srgbClr val="F5F3F8"/>
                </a:solidFill>
                <a:latin typeface="Inter"/>
              </a:rPr>
              <a:t>NEWS</a:t>
            </a:r>
            <a:endParaRPr/>
          </a:p>
        </p:txBody>
      </p:sp>
      <p:sp>
        <p:nvSpPr>
          <p:cNvPr id="23" name="Oval 22"/>
          <p:cNvSpPr/>
          <p:nvPr/>
        </p:nvSpPr>
        <p:spPr bwMode="auto">
          <a:xfrm>
            <a:off x="10515600" y="1655063"/>
            <a:ext cx="640080" cy="640080"/>
          </a:xfrm>
          <a:prstGeom prst="ellipse">
            <a:avLst/>
          </a:prstGeom>
          <a:solidFill>
            <a:srgbClr val="1A1428"/>
          </a:solidFill>
          <a:ln w="12700">
            <a:solidFill>
              <a:srgbClr val="A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0515600" y="188366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1" i="0">
                <a:solidFill>
                  <a:srgbClr val="F5F3F8"/>
                </a:solidFill>
                <a:latin typeface="Inter"/>
              </a:rPr>
              <a:t>DATA</a:t>
            </a:r>
            <a:endParaRPr/>
          </a:p>
        </p:txBody>
      </p:sp>
      <p:sp>
        <p:nvSpPr>
          <p:cNvPr id="25" name="Oval 24"/>
          <p:cNvSpPr/>
          <p:nvPr/>
        </p:nvSpPr>
        <p:spPr bwMode="auto">
          <a:xfrm>
            <a:off x="8019288" y="3721608"/>
            <a:ext cx="640080" cy="640080"/>
          </a:xfrm>
          <a:prstGeom prst="ellipse">
            <a:avLst/>
          </a:prstGeom>
          <a:solidFill>
            <a:srgbClr val="1A1428"/>
          </a:solidFill>
          <a:ln w="12700">
            <a:solidFill>
              <a:srgbClr val="A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019288" y="395020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1" i="0">
                <a:solidFill>
                  <a:srgbClr val="F5F3F8"/>
                </a:solidFill>
                <a:latin typeface="Inter"/>
              </a:rPr>
              <a:t>RISK</a:t>
            </a:r>
            <a:endParaRPr/>
          </a:p>
        </p:txBody>
      </p:sp>
      <p:sp>
        <p:nvSpPr>
          <p:cNvPr id="27" name="Oval 26"/>
          <p:cNvSpPr/>
          <p:nvPr/>
        </p:nvSpPr>
        <p:spPr bwMode="auto">
          <a:xfrm>
            <a:off x="10524744" y="3813048"/>
            <a:ext cx="640080" cy="640080"/>
          </a:xfrm>
          <a:prstGeom prst="ellipse">
            <a:avLst/>
          </a:prstGeom>
          <a:solidFill>
            <a:srgbClr val="1A1428"/>
          </a:solidFill>
          <a:ln w="12700">
            <a:solidFill>
              <a:srgbClr val="A6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10524744" y="4041648"/>
            <a:ext cx="640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1" i="0">
                <a:solidFill>
                  <a:srgbClr val="F5F3F8"/>
                </a:solidFill>
                <a:latin typeface="Inter"/>
              </a:rPr>
              <a:t>VIDEO</a:t>
            </a:r>
            <a:endParaRPr/>
          </a:p>
        </p:txBody>
      </p:sp>
      <p:sp>
        <p:nvSpPr>
          <p:cNvPr id="29" name="Oval 28"/>
          <p:cNvSpPr/>
          <p:nvPr/>
        </p:nvSpPr>
        <p:spPr bwMode="auto">
          <a:xfrm>
            <a:off x="8842248" y="2359152"/>
            <a:ext cx="91440" cy="91440"/>
          </a:xfrm>
          <a:prstGeom prst="ellipse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Oval 29"/>
          <p:cNvSpPr/>
          <p:nvPr/>
        </p:nvSpPr>
        <p:spPr bwMode="auto">
          <a:xfrm>
            <a:off x="10177272" y="2331720"/>
            <a:ext cx="91440" cy="91440"/>
          </a:xfrm>
          <a:prstGeom prst="ellipse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Oval 30"/>
          <p:cNvSpPr/>
          <p:nvPr/>
        </p:nvSpPr>
        <p:spPr bwMode="auto">
          <a:xfrm>
            <a:off x="8869680" y="3493008"/>
            <a:ext cx="91440" cy="91440"/>
          </a:xfrm>
          <a:prstGeom prst="ellipse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Oval 31"/>
          <p:cNvSpPr/>
          <p:nvPr/>
        </p:nvSpPr>
        <p:spPr bwMode="auto">
          <a:xfrm>
            <a:off x="10158984" y="3502152"/>
            <a:ext cx="91440" cy="91440"/>
          </a:xfrm>
          <a:prstGeom prst="ellipse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34" name="Connector 33"/>
          <p:cNvCxnSpPr>
            <a:cxnSpLocks/>
          </p:cNvCxnSpPr>
          <p:nvPr/>
        </p:nvCxnSpPr>
        <p:spPr bwMode="auto">
          <a:xfrm flipH="0" flipV="0">
            <a:off x="530352" y="4361688"/>
            <a:ext cx="5150897" cy="0"/>
          </a:xfrm>
          <a:prstGeom prst="line">
            <a:avLst/>
          </a:prstGeom>
          <a:ln w="19050" cap="flat" cmpd="sng" algn="ctr">
            <a:solidFill>
              <a:srgbClr val="743A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auto">
          <a:xfrm flipH="0" flipV="0">
            <a:off x="7456931" y="5327730"/>
            <a:ext cx="1584045" cy="784042"/>
          </a:xfrm>
          <a:prstGeom prst="rect">
            <a:avLst/>
          </a:prstGeom>
          <a:solidFill>
            <a:srgbClr val="111018"/>
          </a:solidFill>
          <a:ln w="8890">
            <a:solidFill>
              <a:srgbClr val="39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8000340" name="Rectangle 39"/>
          <p:cNvSpPr/>
          <p:nvPr/>
        </p:nvSpPr>
        <p:spPr bwMode="auto">
          <a:xfrm flipH="0" flipV="0">
            <a:off x="9193375" y="5327730"/>
            <a:ext cx="869373" cy="784041"/>
          </a:xfrm>
          <a:prstGeom prst="rect">
            <a:avLst/>
          </a:prstGeom>
          <a:solidFill>
            <a:srgbClr val="111018"/>
          </a:solidFill>
          <a:ln w="8890">
            <a:solidFill>
              <a:srgbClr val="39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 flipH="0" flipV="0">
            <a:off x="9373641" y="5552111"/>
            <a:ext cx="584521" cy="114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750" b="1" i="0" spc="90">
                <a:solidFill>
                  <a:srgbClr val="A669FF"/>
                </a:solidFill>
                <a:latin typeface="Inter"/>
              </a:rPr>
              <a:t>DISCORD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 flipH="0" flipV="0">
            <a:off x="9371644" y="5715941"/>
            <a:ext cx="440712" cy="1603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AB5C7"/>
                </a:solidFill>
                <a:latin typeface="Inter"/>
              </a:rPr>
              <a:t>yomek</a:t>
            </a:r>
            <a:endParaRPr>
              <a:solidFill>
                <a:srgbClr val="BAB5C7"/>
              </a:solidFill>
            </a:endParaRPr>
          </a:p>
        </p:txBody>
      </p:sp>
      <p:sp>
        <p:nvSpPr>
          <p:cNvPr id="1254220034" name="Rectangle 39"/>
          <p:cNvSpPr/>
          <p:nvPr/>
        </p:nvSpPr>
        <p:spPr bwMode="auto">
          <a:xfrm flipH="0" flipV="0">
            <a:off x="10222991" y="5323920"/>
            <a:ext cx="1389887" cy="784041"/>
          </a:xfrm>
          <a:prstGeom prst="rect">
            <a:avLst/>
          </a:prstGeom>
          <a:solidFill>
            <a:srgbClr val="111018"/>
          </a:solidFill>
          <a:ln w="8890">
            <a:solidFill>
              <a:srgbClr val="392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 flipH="0" flipV="0">
            <a:off x="10432584" y="5544491"/>
            <a:ext cx="713952" cy="114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750" b="1" i="0" spc="70">
                <a:solidFill>
                  <a:srgbClr val="A669FF"/>
                </a:solidFill>
                <a:latin typeface="Inter"/>
              </a:rPr>
              <a:t>ARC HOUSE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 flipH="0" flipV="0">
            <a:off x="10432584" y="5715941"/>
            <a:ext cx="912750" cy="1527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BAB5C7"/>
                </a:solidFill>
                <a:latin typeface="Inter"/>
              </a:rPr>
              <a:t>Niki Li (yomek)</a:t>
            </a:r>
            <a:endParaRPr>
              <a:solidFill>
                <a:srgbClr val="BAB5C7"/>
              </a:solidFill>
            </a:endParaRPr>
          </a:p>
        </p:txBody>
      </p:sp>
      <p:sp>
        <p:nvSpPr>
          <p:cNvPr id="45" name="Rectangle 44"/>
          <p:cNvSpPr/>
          <p:nvPr/>
        </p:nvSpPr>
        <p:spPr bwMode="auto">
          <a:xfrm>
            <a:off x="0" y="6807708"/>
            <a:ext cx="12191695" cy="50292"/>
          </a:xfrm>
          <a:prstGeom prst="rect">
            <a:avLst/>
          </a:prstGeom>
          <a:solidFill>
            <a:srgbClr val="A6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 flipH="0" flipV="0">
            <a:off x="7625291" y="5479542"/>
            <a:ext cx="1125250" cy="129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1" i="0" spc="100">
                <a:solidFill>
                  <a:srgbClr val="A669FF"/>
                </a:solidFill>
                <a:latin typeface="Inter"/>
              </a:rPr>
              <a:t>PRIMARY TRACK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 flipH="0" flipV="0">
            <a:off x="7625291" y="5690788"/>
            <a:ext cx="1336907" cy="5261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999"/>
              </a:lnSpc>
              <a:defRPr/>
            </a:pPr>
            <a:r>
              <a:rPr sz="1000" b="1" i="0">
                <a:solidFill>
                  <a:srgbClr val="F5F3F8"/>
                </a:solidFill>
                <a:latin typeface="Inter Display"/>
              </a:rPr>
              <a:t>Best Agentic </a:t>
            </a:r>
            <a:br>
              <a:rPr sz="1000" b="1" i="0">
                <a:solidFill>
                  <a:srgbClr val="F5F3F8"/>
                </a:solidFill>
                <a:latin typeface="Inter Display"/>
              </a:rPr>
            </a:br>
            <a:r>
              <a:rPr sz="1000" b="1" i="0">
                <a:solidFill>
                  <a:srgbClr val="F5F3F8"/>
                </a:solidFill>
                <a:latin typeface="Inter Display"/>
              </a:rPr>
              <a:t>Economy </a:t>
            </a:r>
            <a:r>
              <a:rPr sz="1000" b="1" i="0">
                <a:solidFill>
                  <a:srgbClr val="F5F3F8"/>
                </a:solidFill>
                <a:latin typeface="Inter Display"/>
              </a:rPr>
              <a:t>Application</a:t>
            </a:r>
            <a:br>
              <a:rPr sz="1000" b="1" i="0">
                <a:solidFill>
                  <a:srgbClr val="F5F3F8"/>
                </a:solidFill>
                <a:latin typeface="Inter Display"/>
              </a:rPr>
            </a:br>
            <a:endParaRPr sz="1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B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Oval 2"/>
          <p:cNvSpPr/>
          <p:nvPr/>
        </p:nvSpPr>
        <p:spPr bwMode="auto">
          <a:xfrm>
            <a:off x="-1325880" y="4297680"/>
            <a:ext cx="2834640" cy="2834640"/>
          </a:xfrm>
          <a:prstGeom prst="ellipse">
            <a:avLst/>
          </a:prstGeom>
          <a:solidFill>
            <a:srgbClr val="5E2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Oval 3"/>
          <p:cNvSpPr/>
          <p:nvPr/>
        </p:nvSpPr>
        <p:spPr bwMode="auto">
          <a:xfrm>
            <a:off x="9784079" y="1051560"/>
            <a:ext cx="2331720" cy="2331720"/>
          </a:xfrm>
          <a:prstGeom prst="ellipse">
            <a:avLst/>
          </a:prstGeom>
          <a:solidFill>
            <a:srgbClr val="C8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9052560" y="9601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600" b="1">
                <a:solidFill>
                  <a:srgbClr val="23173B"/>
                </a:solidFill>
                <a:latin typeface="Aptos"/>
              </a:rPr>
              <a:t>訳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10927079" y="523036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4500" b="1">
                <a:solidFill>
                  <a:srgbClr val="23173B"/>
                </a:solidFill>
                <a:latin typeface="Aptos"/>
              </a:rPr>
              <a:t>源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0352" y="98755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A463FF"/>
                </a:solidFill>
                <a:latin typeface="Aptos"/>
              </a:rPr>
              <a:t>WHY MATOI EXISTS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30352" y="1298448"/>
            <a:ext cx="566928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400" b="1">
                <a:solidFill>
                  <a:srgbClr val="F5F1FF"/>
                </a:solidFill>
                <a:latin typeface="Aptos"/>
              </a:rPr>
              <a:t>From cyberpunk to</a:t>
            </a:r>
            <a:br>
              <a:rPr sz="3400" b="1">
                <a:solidFill>
                  <a:srgbClr val="F5F1FF"/>
                </a:solidFill>
                <a:latin typeface="Aptos"/>
              </a:rPr>
            </a:br>
            <a:r>
              <a:rPr sz="3400" b="1">
                <a:solidFill>
                  <a:srgbClr val="F5F1FF"/>
                </a:solidFill>
                <a:latin typeface="Aptos"/>
              </a:rPr>
              <a:t>a working agent market.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566928" y="2487168"/>
            <a:ext cx="61722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C7C1D2"/>
                </a:solidFill>
                <a:latin typeface="Aptos"/>
              </a:rPr>
              <a:t>Cyberpunk gave the image: autonomous systems trading information and services. Matoi turns one piece of that idea into a product loop reviewers can run.</a:t>
            </a:r>
            <a:endParaRPr/>
          </a:p>
        </p:txBody>
      </p:sp>
      <p:sp>
        <p:nvSpPr>
          <p:cNvPr id="16" name="Rounded Rectangle 15"/>
          <p:cNvSpPr/>
          <p:nvPr/>
        </p:nvSpPr>
        <p:spPr bwMode="auto">
          <a:xfrm>
            <a:off x="530352" y="3401568"/>
            <a:ext cx="3136392" cy="1645920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03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740664" y="3660000"/>
            <a:ext cx="1800000" cy="1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50" b="1">
                <a:solidFill>
                  <a:srgbClr val="7C3CFF"/>
                </a:solidFill>
                <a:latin typeface="Aptos"/>
              </a:rPr>
              <a:t>ORIGIN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740664" y="4140000"/>
            <a:ext cx="268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F5F1FF"/>
                </a:solidFill>
                <a:latin typeface="Aptos"/>
              </a:rPr>
              <a:t>Autonomous software searches, negotiates and transacts with other software.</a:t>
            </a:r>
            <a:endParaRPr/>
          </a:p>
        </p:txBody>
      </p:sp>
      <p:sp>
        <p:nvSpPr>
          <p:cNvPr id="22" name="Rounded Rectangle 21"/>
          <p:cNvSpPr/>
          <p:nvPr/>
        </p:nvSpPr>
        <p:spPr bwMode="auto">
          <a:xfrm>
            <a:off x="4160519" y="3401568"/>
            <a:ext cx="3136392" cy="1645920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03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4370832" y="3660000"/>
            <a:ext cx="1800000" cy="1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50" b="1">
                <a:solidFill>
                  <a:srgbClr val="FF3D7F"/>
                </a:solidFill>
                <a:latin typeface="Aptos"/>
              </a:rPr>
              <a:t>TODAY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4370832" y="4140000"/>
            <a:ext cx="268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F5F1FF"/>
                </a:solidFill>
                <a:latin typeface="Aptos"/>
              </a:rPr>
              <a:t>Crypto intelligence is split across Telegram, APIs, feeds and private chats.</a:t>
            </a:r>
            <a:endParaRPr/>
          </a:p>
        </p:txBody>
      </p:sp>
      <p:sp>
        <p:nvSpPr>
          <p:cNvPr id="28" name="Rounded Rectangle 27"/>
          <p:cNvSpPr/>
          <p:nvPr/>
        </p:nvSpPr>
        <p:spPr bwMode="auto">
          <a:xfrm>
            <a:off x="7790687" y="3401568"/>
            <a:ext cx="3136392" cy="1645920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03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8001000" y="3660000"/>
            <a:ext cx="2000000" cy="1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50" b="1">
                <a:solidFill>
                  <a:srgbClr val="55F0C0"/>
                </a:solidFill>
                <a:latin typeface="Aptos"/>
              </a:rPr>
              <a:t>MATOI RUN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8001000" y="4140000"/>
            <a:ext cx="2680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50" b="1">
                <a:solidFill>
                  <a:srgbClr val="F5F1FF"/>
                </a:solidFill>
                <a:latin typeface="Aptos"/>
              </a:rPr>
              <a:t>BuyerAgent finds providers, checks quotes, pays accepted calls and records the receipt.</a:t>
            </a:r>
            <a:endParaRPr/>
          </a:p>
        </p:txBody>
      </p:sp>
      <p:cxnSp>
        <p:nvCxnSpPr>
          <p:cNvPr id="1570821110" name="Connector 44"/>
          <p:cNvCxnSpPr>
            <a:cxnSpLocks/>
          </p:cNvCxnSpPr>
          <p:nvPr/>
        </p:nvCxnSpPr>
        <p:spPr bwMode="auto">
          <a:xfrm>
            <a:off x="530352" y="5897880"/>
            <a:ext cx="11128248" cy="0"/>
          </a:xfrm>
          <a:prstGeom prst="line">
            <a:avLst/>
          </a:prstGeom>
          <a:ln w="8255">
            <a:solidFill>
              <a:srgbClr val="322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2017625" name="TextBox 45"/>
          <p:cNvSpPr txBox="1"/>
          <p:nvPr/>
        </p:nvSpPr>
        <p:spPr bwMode="auto">
          <a:xfrm flipH="0" flipV="0">
            <a:off x="566927" y="6144768"/>
            <a:ext cx="733541" cy="13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900" b="1">
                <a:solidFill>
                  <a:srgbClr val="B17CFF"/>
                </a:solidFill>
                <a:latin typeface="Aptos"/>
              </a:rPr>
              <a:t>RUN RESUKT</a:t>
            </a:r>
            <a:endParaRPr sz="900"/>
          </a:p>
        </p:txBody>
      </p:sp>
      <p:sp>
        <p:nvSpPr>
          <p:cNvPr id="1299131053" name="TextBox 46"/>
          <p:cNvSpPr txBox="1"/>
          <p:nvPr/>
        </p:nvSpPr>
        <p:spPr bwMode="auto">
          <a:xfrm>
            <a:off x="1535832" y="6099047"/>
            <a:ext cx="6584399" cy="183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1200" b="0" i="0" u="none" strike="noStrike" cap="none" spc="0">
                <a:solidFill>
                  <a:srgbClr val="C7C1D2"/>
                </a:solidFill>
                <a:latin typeface="Aptos"/>
                <a:ea typeface="Aptos"/>
                <a:cs typeface="Aptos"/>
              </a:rPr>
              <a:t>A buyer agent requests intelligence, pays for it, and leaves an auditable trail.</a:t>
            </a:r>
            <a:endParaRPr/>
          </a:p>
        </p:txBody>
      </p:sp>
      <p:sp>
        <p:nvSpPr>
          <p:cNvPr id="2052426710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2/16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872387423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B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Oval 2"/>
          <p:cNvSpPr/>
          <p:nvPr/>
        </p:nvSpPr>
        <p:spPr bwMode="auto">
          <a:xfrm>
            <a:off x="-1325880" y="4297680"/>
            <a:ext cx="2834640" cy="2834640"/>
          </a:xfrm>
          <a:prstGeom prst="ellipse">
            <a:avLst/>
          </a:prstGeom>
          <a:solidFill>
            <a:srgbClr val="5E2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Oval 3"/>
          <p:cNvSpPr/>
          <p:nvPr/>
        </p:nvSpPr>
        <p:spPr bwMode="auto">
          <a:xfrm>
            <a:off x="9784079" y="1051560"/>
            <a:ext cx="2331720" cy="2331720"/>
          </a:xfrm>
          <a:prstGeom prst="ellipse">
            <a:avLst/>
          </a:prstGeom>
          <a:solidFill>
            <a:srgbClr val="C8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9052560" y="9601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600" b="1">
                <a:solidFill>
                  <a:srgbClr val="23173B"/>
                </a:solidFill>
                <a:latin typeface="Aptos"/>
              </a:rPr>
              <a:t>訳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10927079" y="5230368"/>
            <a:ext cx="731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4500" b="1">
                <a:solidFill>
                  <a:srgbClr val="23173B"/>
                </a:solidFill>
                <a:latin typeface="Aptos"/>
              </a:rPr>
              <a:t>源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0352" y="98755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A463FF"/>
                </a:solidFill>
                <a:latin typeface="Aptos"/>
              </a:rPr>
              <a:t>WHAT MATOI DOES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30352" y="1298448"/>
            <a:ext cx="470916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200" b="1">
                <a:solidFill>
                  <a:srgbClr val="F5F1FF"/>
                </a:solidFill>
                <a:latin typeface="Aptos"/>
              </a:rPr>
              <a:t>One RUN click.</a:t>
            </a:r>
            <a:br>
              <a:rPr sz="3200" b="1">
                <a:solidFill>
                  <a:srgbClr val="F5F1FF"/>
                </a:solidFill>
                <a:latin typeface="Aptos"/>
              </a:rPr>
            </a:br>
            <a:r>
              <a:rPr sz="3200" b="1">
                <a:solidFill>
                  <a:srgbClr val="F5F1FF"/>
                </a:solidFill>
                <a:latin typeface="Aptos"/>
              </a:rPr>
              <a:t>BuyerAgent handles</a:t>
            </a:r>
            <a:br>
              <a:rPr sz="3200" b="1">
                <a:solidFill>
                  <a:srgbClr val="F5F1FF"/>
                </a:solidFill>
                <a:latin typeface="Aptos"/>
              </a:rPr>
            </a:br>
            <a:r>
              <a:rPr sz="3200" b="1">
                <a:solidFill>
                  <a:srgbClr val="F5F1FF"/>
                </a:solidFill>
                <a:latin typeface="Aptos"/>
              </a:rPr>
              <a:t>the loop.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566928" y="2761488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C7C1D2"/>
                </a:solidFill>
                <a:latin typeface="Aptos"/>
              </a:rPr>
              <a:t>The user picks a scenario. BuyerAgent discovers providers, asks for quotes, checks policy, pays selected calls and writes the proof trail.</a:t>
            </a:r>
            <a:endParaRPr/>
          </a:p>
        </p:txBody>
      </p:sp>
      <p:sp>
        <p:nvSpPr>
          <p:cNvPr id="14" name="Rectangle 13"/>
          <p:cNvSpPr/>
          <p:nvPr/>
        </p:nvSpPr>
        <p:spPr bwMode="auto">
          <a:xfrm>
            <a:off x="566928" y="3950208"/>
            <a:ext cx="4206240" cy="1078992"/>
          </a:xfrm>
          <a:prstGeom prst="rect">
            <a:avLst/>
          </a:prstGeom>
          <a:solidFill>
            <a:srgbClr val="120F1B"/>
          </a:solidFill>
          <a:ln w="9525">
            <a:solidFill>
              <a:srgbClr val="403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822960" y="4160519"/>
            <a:ext cx="155448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1">
                <a:solidFill>
                  <a:srgbClr val="B17CFF"/>
                </a:solidFill>
                <a:latin typeface="Aptos"/>
              </a:rPr>
              <a:t>INSIDE ONE MISSION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822960" y="4462272"/>
            <a:ext cx="3291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1FF"/>
                </a:solidFill>
                <a:latin typeface="Aptos"/>
              </a:rPr>
              <a:t>Input: buyer scenario + budget policy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22960" y="4727448"/>
            <a:ext cx="32918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5F1FF"/>
                </a:solidFill>
                <a:latin typeface="Aptos"/>
              </a:rPr>
              <a:t>Output: transcript + receipt + HCS proof</a:t>
            </a:r>
            <a:endParaRPr/>
          </a:p>
        </p:txBody>
      </p:sp>
      <p:sp>
        <p:nvSpPr>
          <p:cNvPr id="18" name="Rounded Rectangle 17"/>
          <p:cNvSpPr/>
          <p:nvPr/>
        </p:nvSpPr>
        <p:spPr bwMode="auto">
          <a:xfrm>
            <a:off x="5623560" y="1188720"/>
            <a:ext cx="6035039" cy="80467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Oval 18"/>
          <p:cNvSpPr/>
          <p:nvPr/>
        </p:nvSpPr>
        <p:spPr bwMode="auto">
          <a:xfrm>
            <a:off x="5788152" y="1399032"/>
            <a:ext cx="384048" cy="384048"/>
          </a:xfrm>
          <a:prstGeom prst="ellipse">
            <a:avLst/>
          </a:prstGeom>
          <a:solidFill>
            <a:srgbClr val="7C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5907024" y="1517904"/>
            <a:ext cx="16459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0B0A10"/>
                </a:solidFill>
                <a:latin typeface="Aptos"/>
              </a:rPr>
              <a:t>01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336792" y="1362455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B17CFF"/>
                </a:solidFill>
                <a:latin typeface="Aptos"/>
              </a:rPr>
              <a:t>DISCOVER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6336792" y="153619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5F1FF"/>
                </a:solidFill>
                <a:latin typeface="Aptos"/>
              </a:rPr>
              <a:t>Provider directory → quotes per call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336792" y="1773936"/>
            <a:ext cx="4800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A79FB4"/>
                </a:solidFill>
                <a:latin typeface="Aptos"/>
              </a:rPr>
              <a:t>Telegram, RSS, prices, TVL, releases</a:t>
            </a:r>
            <a:endParaRPr/>
          </a:p>
        </p:txBody>
      </p:sp>
      <p:cxnSp>
        <p:nvCxnSpPr>
          <p:cNvPr id="24" name="Connector 23"/>
          <p:cNvCxnSpPr>
            <a:cxnSpLocks/>
          </p:cNvCxnSpPr>
          <p:nvPr/>
        </p:nvCxnSpPr>
        <p:spPr bwMode="auto">
          <a:xfrm>
            <a:off x="5980176" y="1993392"/>
            <a:ext cx="0" cy="246888"/>
          </a:xfrm>
          <a:prstGeom prst="line">
            <a:avLst/>
          </a:prstGeom>
          <a:ln w="9525">
            <a:solidFill>
              <a:srgbClr val="403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 bwMode="auto">
          <a:xfrm>
            <a:off x="5623560" y="2240280"/>
            <a:ext cx="6035039" cy="80467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5788152" y="2450592"/>
            <a:ext cx="384048" cy="384048"/>
          </a:xfrm>
          <a:prstGeom prst="ellipse">
            <a:avLst/>
          </a:prstGeom>
          <a:solidFill>
            <a:srgbClr val="9E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5907024" y="2569464"/>
            <a:ext cx="16459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0B0A10"/>
                </a:solidFill>
                <a:latin typeface="Aptos"/>
              </a:rPr>
              <a:t>02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336792" y="2414016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B17CFF"/>
                </a:solidFill>
                <a:latin typeface="Aptos"/>
              </a:rPr>
              <a:t>EVALUATE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336792" y="25877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5F1FF"/>
                </a:solidFill>
                <a:latin typeface="Aptos"/>
              </a:rPr>
              <a:t>Budget + risk policy → ranked offers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6336792" y="2825496"/>
            <a:ext cx="4800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A79FB4"/>
                </a:solidFill>
                <a:latin typeface="Aptos"/>
              </a:rPr>
              <a:t>BuyerAgent decides what is worth paying for</a:t>
            </a:r>
            <a:endParaRPr/>
          </a:p>
        </p:txBody>
      </p:sp>
      <p:cxnSp>
        <p:nvCxnSpPr>
          <p:cNvPr id="31" name="Connector 30"/>
          <p:cNvCxnSpPr>
            <a:cxnSpLocks/>
          </p:cNvCxnSpPr>
          <p:nvPr/>
        </p:nvCxnSpPr>
        <p:spPr bwMode="auto">
          <a:xfrm>
            <a:off x="5980176" y="3044952"/>
            <a:ext cx="0" cy="246888"/>
          </a:xfrm>
          <a:prstGeom prst="line">
            <a:avLst/>
          </a:prstGeom>
          <a:ln w="9525">
            <a:solidFill>
              <a:srgbClr val="403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 bwMode="auto">
          <a:xfrm>
            <a:off x="5623560" y="3291839"/>
            <a:ext cx="6035039" cy="80467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Oval 32"/>
          <p:cNvSpPr/>
          <p:nvPr/>
        </p:nvSpPr>
        <p:spPr bwMode="auto">
          <a:xfrm>
            <a:off x="5788152" y="3502151"/>
            <a:ext cx="384048" cy="384048"/>
          </a:xfrm>
          <a:prstGeom prst="ellipse">
            <a:avLst/>
          </a:prstGeom>
          <a:solidFill>
            <a:srgbClr val="FF3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5907024" y="3621023"/>
            <a:ext cx="16459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0B0A10"/>
                </a:solidFill>
                <a:latin typeface="Aptos"/>
              </a:rPr>
              <a:t>03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6336792" y="3465575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B17CFF"/>
                </a:solidFill>
                <a:latin typeface="Aptos"/>
              </a:rPr>
              <a:t>PAY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6336792" y="3639311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5F1FF"/>
                </a:solidFill>
                <a:latin typeface="Aptos"/>
              </a:rPr>
              <a:t>Circle wallet authorizes USDC spend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6336792" y="3877055"/>
            <a:ext cx="4800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A79FB4"/>
                </a:solidFill>
                <a:latin typeface="Aptos"/>
              </a:rPr>
              <a:t>Hedera x402 facilitator settles the accepted call</a:t>
            </a:r>
            <a:endParaRPr/>
          </a:p>
        </p:txBody>
      </p:sp>
      <p:cxnSp>
        <p:nvCxnSpPr>
          <p:cNvPr id="38" name="Connector 37"/>
          <p:cNvCxnSpPr>
            <a:cxnSpLocks/>
          </p:cNvCxnSpPr>
          <p:nvPr/>
        </p:nvCxnSpPr>
        <p:spPr bwMode="auto">
          <a:xfrm>
            <a:off x="5980176" y="4096511"/>
            <a:ext cx="0" cy="246889"/>
          </a:xfrm>
          <a:prstGeom prst="line">
            <a:avLst/>
          </a:prstGeom>
          <a:ln w="9525">
            <a:solidFill>
              <a:srgbClr val="403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 bwMode="auto">
          <a:xfrm>
            <a:off x="5623560" y="4343400"/>
            <a:ext cx="6035039" cy="80467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9525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Oval 39"/>
          <p:cNvSpPr/>
          <p:nvPr/>
        </p:nvSpPr>
        <p:spPr bwMode="auto">
          <a:xfrm>
            <a:off x="5788152" y="4553712"/>
            <a:ext cx="384048" cy="384048"/>
          </a:xfrm>
          <a:prstGeom prst="ellipse">
            <a:avLst/>
          </a:prstGeom>
          <a:solidFill>
            <a:srgbClr val="55F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5907024" y="4672584"/>
            <a:ext cx="164592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0B0A10"/>
                </a:solidFill>
                <a:latin typeface="Aptos"/>
              </a:rPr>
              <a:t>04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6336792" y="4517136"/>
            <a:ext cx="12344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1">
                <a:solidFill>
                  <a:srgbClr val="68F7CA"/>
                </a:solidFill>
                <a:latin typeface="Aptos"/>
              </a:rPr>
              <a:t>PROVE</a:t>
            </a: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6336792" y="469087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5F1FF"/>
                </a:solidFill>
                <a:latin typeface="Aptos"/>
              </a:rPr>
              <a:t>Receipt hash → HCS anchor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6336792" y="4928616"/>
            <a:ext cx="480060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A79FB4"/>
                </a:solidFill>
                <a:latin typeface="Aptos"/>
              </a:rPr>
              <a:t>A2A transcript stores every mission step</a:t>
            </a:r>
            <a:endParaRPr/>
          </a:p>
        </p:txBody>
      </p:sp>
      <p:cxnSp>
        <p:nvCxnSpPr>
          <p:cNvPr id="45" name="Connector 44"/>
          <p:cNvCxnSpPr>
            <a:cxnSpLocks/>
          </p:cNvCxnSpPr>
          <p:nvPr/>
        </p:nvCxnSpPr>
        <p:spPr bwMode="auto">
          <a:xfrm>
            <a:off x="530352" y="5897880"/>
            <a:ext cx="11128248" cy="0"/>
          </a:xfrm>
          <a:prstGeom prst="line">
            <a:avLst/>
          </a:prstGeom>
          <a:ln w="8255">
            <a:solidFill>
              <a:srgbClr val="322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566928" y="6144768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B17CFF"/>
                </a:solidFill>
                <a:latin typeface="Aptos"/>
              </a:rPr>
              <a:t>Discover → evaluate → pay → prove</a:t>
            </a:r>
            <a:endParaRPr/>
          </a:p>
        </p:txBody>
      </p:sp>
      <p:sp>
        <p:nvSpPr>
          <p:cNvPr id="47" name="TextBox 46"/>
          <p:cNvSpPr txBox="1"/>
          <p:nvPr/>
        </p:nvSpPr>
        <p:spPr bwMode="auto">
          <a:xfrm>
            <a:off x="2984338" y="6144768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C7C1D2"/>
                </a:solidFill>
                <a:latin typeface="Aptos"/>
              </a:rPr>
              <a:t>The UI shows the run as a live transcript, so reviewers can follow each decision and payment step.</a:t>
            </a:r>
            <a:endParaRPr/>
          </a:p>
        </p:txBody>
      </p:sp>
      <p:sp>
        <p:nvSpPr>
          <p:cNvPr id="28841471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3/16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724613077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B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Oval 2"/>
          <p:cNvSpPr/>
          <p:nvPr/>
        </p:nvSpPr>
        <p:spPr bwMode="auto">
          <a:xfrm>
            <a:off x="-1508759" y="4846320"/>
            <a:ext cx="2468880" cy="2468880"/>
          </a:xfrm>
          <a:prstGeom prst="ellipse">
            <a:avLst/>
          </a:prstGeom>
          <a:solidFill>
            <a:srgbClr val="5E2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Oval 3"/>
          <p:cNvSpPr/>
          <p:nvPr/>
        </p:nvSpPr>
        <p:spPr bwMode="auto">
          <a:xfrm>
            <a:off x="10469880" y="1371600"/>
            <a:ext cx="1783080" cy="1783080"/>
          </a:xfrm>
          <a:prstGeom prst="ellipse">
            <a:avLst/>
          </a:prstGeom>
          <a:solidFill>
            <a:srgbClr val="C8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9006840" y="896112"/>
            <a:ext cx="868680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/>
            </a:pPr>
            <a:r>
              <a:rPr sz="6000" b="1" i="0">
                <a:solidFill>
                  <a:srgbClr val="211535"/>
                </a:solidFill>
                <a:latin typeface="Aptos"/>
              </a:rPr>
              <a:t>評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822960" y="4736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defRPr/>
            </a:pPr>
            <a:r>
              <a:rPr sz="3400" b="1" i="0">
                <a:solidFill>
                  <a:srgbClr val="211535"/>
                </a:solidFill>
                <a:latin typeface="Aptos"/>
              </a:rPr>
              <a:t>買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0352" y="96926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200" b="1" i="0">
                <a:solidFill>
                  <a:srgbClr val="A463FF"/>
                </a:solidFill>
                <a:latin typeface="Aptos"/>
              </a:rPr>
              <a:t>THE AGENTS ARE SMART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30352" y="1261872"/>
            <a:ext cx="4709160" cy="8412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3400" b="1" i="0">
                <a:solidFill>
                  <a:srgbClr val="F5F1FF"/>
                </a:solidFill>
                <a:latin typeface="Aptos"/>
              </a:rPr>
              <a:t>Agents read, price,</a:t>
            </a:r>
            <a:br>
              <a:rPr sz="3400" b="1" i="0">
                <a:solidFill>
                  <a:srgbClr val="F5F1FF"/>
                </a:solidFill>
                <a:latin typeface="Aptos"/>
              </a:rPr>
            </a:br>
            <a:r>
              <a:rPr sz="3400" b="1" i="0">
                <a:solidFill>
                  <a:srgbClr val="F5F1FF"/>
                </a:solidFill>
                <a:latin typeface="Aptos"/>
              </a:rPr>
              <a:t>and decide.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566928" y="2350008"/>
            <a:ext cx="5897880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300" b="0" i="0">
                <a:solidFill>
                  <a:srgbClr val="C7C1D2"/>
                </a:solidFill>
                <a:latin typeface="Aptos"/>
              </a:rPr>
              <a:t>Matoi has agents on both sides of the trade: providers turn raw streams into priced intelligence; BuyerAgent decides what is worth buying for the current mission.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566928" y="3035808"/>
            <a:ext cx="5394960" cy="144475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10160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ounded Rectangle 14"/>
          <p:cNvSpPr/>
          <p:nvPr/>
        </p:nvSpPr>
        <p:spPr bwMode="auto">
          <a:xfrm>
            <a:off x="566928" y="3035808"/>
            <a:ext cx="5394960" cy="393192"/>
          </a:xfrm>
          <a:prstGeom prst="roundRect">
            <a:avLst>
              <a:gd name="adj" fmla="val 16667"/>
            </a:avLst>
          </a:prstGeom>
          <a:solidFill>
            <a:srgbClr val="171026"/>
          </a:solidFill>
          <a:ln w="7620">
            <a:solidFill>
              <a:srgbClr val="5A4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95528" y="3163824"/>
            <a:ext cx="49377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900" b="1" i="0">
                <a:solidFill>
                  <a:srgbClr val="A463FF"/>
                </a:solidFill>
                <a:latin typeface="Aptos"/>
              </a:rPr>
              <a:t>PROVIDER AGENTS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795528" y="3566160"/>
            <a:ext cx="480060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100" b="0" i="0">
                <a:solidFill>
                  <a:srgbClr val="F5F1FF"/>
                </a:solidFill>
                <a:latin typeface="Aptos"/>
              </a:rPr>
              <a:t>• Read raw sources: Telegram, RSS, prices, TVL, releases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Score each item: importance, asset, horizon, impact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Set price per call based on usefulness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Publish the catalog in the marketplace directory</a:t>
            </a: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6236208" y="3035808"/>
            <a:ext cx="5394960" cy="1444752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10160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6236208" y="3035808"/>
            <a:ext cx="5394960" cy="393192"/>
          </a:xfrm>
          <a:prstGeom prst="roundRect">
            <a:avLst>
              <a:gd name="adj" fmla="val 16667"/>
            </a:avLst>
          </a:prstGeom>
          <a:solidFill>
            <a:srgbClr val="171026"/>
          </a:solidFill>
          <a:ln w="7620">
            <a:solidFill>
              <a:srgbClr val="5A4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6464808" y="3163824"/>
            <a:ext cx="49377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900" b="1" i="0">
                <a:solidFill>
                  <a:srgbClr val="FF4F8F"/>
                </a:solidFill>
                <a:latin typeface="Aptos"/>
              </a:rPr>
              <a:t>BUYER AGENT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64808" y="3566160"/>
            <a:ext cx="480060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100" b="0" i="0">
                <a:solidFill>
                  <a:srgbClr val="F5F1FF"/>
                </a:solidFill>
                <a:latin typeface="Aptos"/>
              </a:rPr>
              <a:t>• Reads the marketplace and asks for quotes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Knows its budget and risk profile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Ranks providers for the current task</a:t>
            </a:r>
            <a:br>
              <a:rPr sz="1100" b="0" i="0">
                <a:solidFill>
                  <a:srgbClr val="F5F1FF"/>
                </a:solidFill>
                <a:latin typeface="Aptos"/>
              </a:rPr>
            </a:br>
            <a:r>
              <a:rPr sz="1100" b="0" i="0">
                <a:solidFill>
                  <a:srgbClr val="F5F1FF"/>
                </a:solidFill>
                <a:latin typeface="Aptos"/>
              </a:rPr>
              <a:t>• Holds the wallet and pays accepted calls</a:t>
            </a:r>
            <a:endParaRPr/>
          </a:p>
        </p:txBody>
      </p:sp>
      <p:sp>
        <p:nvSpPr>
          <p:cNvPr id="24" name="Rounded Rectangle 23"/>
          <p:cNvSpPr/>
          <p:nvPr/>
        </p:nvSpPr>
        <p:spPr bwMode="auto">
          <a:xfrm>
            <a:off x="566928" y="4663440"/>
            <a:ext cx="11064240" cy="932688"/>
          </a:xfrm>
          <a:prstGeom prst="roundRect">
            <a:avLst>
              <a:gd name="adj" fmla="val 16667"/>
            </a:avLst>
          </a:prstGeom>
          <a:solidFill>
            <a:srgbClr val="11101B"/>
          </a:solidFill>
          <a:ln w="10160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566928" y="4663440"/>
            <a:ext cx="11064240" cy="393192"/>
          </a:xfrm>
          <a:prstGeom prst="roundRect">
            <a:avLst>
              <a:gd name="adj" fmla="val 16667"/>
            </a:avLst>
          </a:prstGeom>
          <a:solidFill>
            <a:srgbClr val="171026"/>
          </a:solidFill>
          <a:ln w="7620">
            <a:solidFill>
              <a:srgbClr val="5A4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795528" y="4791455"/>
            <a:ext cx="1060704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900" b="1" i="0">
                <a:solidFill>
                  <a:srgbClr val="55F0C0"/>
                </a:solidFill>
                <a:latin typeface="Aptos"/>
              </a:rPr>
              <a:t>LIVE EXAMPLE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2139696" y="4791455"/>
            <a:ext cx="9253728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900" b="1" i="0">
                <a:solidFill>
                  <a:srgbClr val="F5F1FF"/>
                </a:solidFill>
                <a:latin typeface="Aptos"/>
              </a:rPr>
              <a:t>TelegramPulse Provider Agent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795528" y="5184648"/>
            <a:ext cx="10561320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050" b="0" i="0">
                <a:solidFill>
                  <a:srgbClr val="F5F1FF"/>
                </a:solidFill>
                <a:latin typeface="Aptos"/>
              </a:rPr>
              <a:t>A public Telegram bot aggregates market-moving messages. TelegramPulse reads the stream, scores sentiment and intensity, then sells the signal behind a 402-style payment boundary. BuyerAgent pays per call, receives a tagged hashed sample, and uses it inside the mission.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 flipH="0" flipV="0">
            <a:off x="566928" y="5775579"/>
            <a:ext cx="11064239" cy="843256"/>
          </a:xfrm>
          <a:prstGeom prst="roundRect">
            <a:avLst>
              <a:gd name="adj" fmla="val 16667"/>
            </a:avLst>
          </a:prstGeom>
          <a:solidFill>
            <a:srgbClr val="100E18"/>
          </a:solidFill>
          <a:ln w="7620">
            <a:solidFill>
              <a:srgbClr val="433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795528" y="5921883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800" b="1" i="0">
                <a:solidFill>
                  <a:srgbClr val="A463FF"/>
                </a:solidFill>
                <a:latin typeface="Aptos"/>
              </a:rPr>
              <a:t>MORE PROVIDERS CAN USE THE SAME PATTERN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795528" y="6124055"/>
            <a:ext cx="7223760" cy="1463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1050" b="1" i="0">
                <a:solidFill>
                  <a:srgbClr val="F5F1FF"/>
                </a:solidFill>
                <a:latin typeface="Aptos"/>
              </a:rPr>
              <a:t>video/speech analysis · policy speech readers · social-feed scoring · contract-deploy watchers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795528" y="6357331"/>
            <a:ext cx="566928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sz="900" b="0" i="0">
                <a:solidFill>
                  <a:srgbClr val="A79FB4"/>
                </a:solidFill>
                <a:latin typeface="Aptos"/>
              </a:rPr>
              <a:t>New agents can be added without changing the buyer flow or payment rail.</a:t>
            </a:r>
            <a:endParaRPr/>
          </a:p>
        </p:txBody>
      </p:sp>
      <p:sp>
        <p:nvSpPr>
          <p:cNvPr id="1197408805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4/16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349028055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F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 bwMode="auto">
          <a:xfrm>
            <a:off x="0" y="0"/>
            <a:ext cx="12191695" cy="109728"/>
          </a:xfrm>
          <a:prstGeom prst="rect">
            <a:avLst/>
          </a:prstGeom>
          <a:solidFill>
            <a:srgbClr val="B0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0" y="6748272"/>
            <a:ext cx="12191695" cy="109728"/>
          </a:xfrm>
          <a:prstGeom prst="rect">
            <a:avLst/>
          </a:prstGeom>
          <a:solidFill>
            <a:srgbClr val="B0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48640" y="1737360"/>
            <a:ext cx="10972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4000" b="1" i="0">
                <a:solidFill>
                  <a:srgbClr val="F7F4EE"/>
                </a:solidFill>
                <a:latin typeface="Calibri"/>
              </a:rPr>
              <a:t>An autonomous buyer-agent runs one mission:</a:t>
            </a:r>
            <a:br>
              <a:rPr sz="4000" b="1" i="0">
                <a:solidFill>
                  <a:srgbClr val="F7F4EE"/>
                </a:solidFill>
                <a:latin typeface="Calibri"/>
              </a:rPr>
            </a:br>
            <a:r>
              <a:rPr sz="4000" b="1" i="0">
                <a:solidFill>
                  <a:srgbClr val="F7F4EE"/>
                </a:solidFill>
                <a:latin typeface="Calibri"/>
              </a:rPr>
              <a:t>picks providers,</a:t>
            </a:r>
            <a:br>
              <a:rPr sz="4000" b="1" i="0">
                <a:solidFill>
                  <a:srgbClr val="F7F4EE"/>
                </a:solidFill>
                <a:latin typeface="Calibri"/>
              </a:rPr>
            </a:br>
            <a:r>
              <a:rPr sz="4000" b="1" i="0">
                <a:solidFill>
                  <a:srgbClr val="F7F4EE"/>
                </a:solidFill>
                <a:latin typeface="Calibri"/>
              </a:rPr>
              <a:t>authorizes Arc/Circle spend,</a:t>
            </a:r>
            <a:br>
              <a:rPr sz="4000" b="1" i="0">
                <a:solidFill>
                  <a:srgbClr val="F7F4EE"/>
                </a:solidFill>
                <a:latin typeface="Calibri"/>
              </a:rPr>
            </a:br>
            <a:r>
              <a:rPr sz="4000" b="1" i="0">
                <a:solidFill>
                  <a:srgbClr val="F7F4EE"/>
                </a:solidFill>
                <a:latin typeface="Calibri"/>
              </a:rPr>
              <a:t>pays per call on Hedera,</a:t>
            </a:r>
            <a:br>
              <a:rPr sz="4000" b="1" i="0">
                <a:solidFill>
                  <a:srgbClr val="F7F4EE"/>
                </a:solidFill>
                <a:latin typeface="Calibri"/>
              </a:rPr>
            </a:br>
            <a:r>
              <a:rPr sz="4000" b="1" i="0">
                <a:solidFill>
                  <a:srgbClr val="F7F4EE"/>
                </a:solidFill>
                <a:latin typeface="Calibri"/>
              </a:rPr>
              <a:t>anchors proof on HCS.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200" b="0" i="1">
                <a:solidFill>
                  <a:srgbClr val="CBDCF6"/>
                </a:solidFill>
                <a:latin typeface="Calibri"/>
              </a:rPr>
              <a:t>Three rails, one transcript, one receipt.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7F4EE"/>
                </a:solidFill>
                <a:latin typeface="Calibri"/>
              </a:rPr>
              <a:t>Discover → Authorize → Pay → Prove.</a:t>
            </a:r>
            <a:endParaRPr/>
          </a:p>
        </p:txBody>
      </p:sp>
      <p:sp>
        <p:nvSpPr>
          <p:cNvPr id="846839265" name="TextBox 10"/>
          <p:cNvSpPr txBox="1"/>
          <p:nvPr/>
        </p:nvSpPr>
        <p:spPr bwMode="auto">
          <a:xfrm flipH="0" flipV="0">
            <a:off x="530352" y="969264"/>
            <a:ext cx="1185034" cy="17373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lang="en-US" sz="1200" b="1" i="0" u="none" strike="noStrike" cap="none" spc="0">
                <a:solidFill>
                  <a:srgbClr val="A463FF"/>
                </a:solidFill>
                <a:latin typeface="Aptos"/>
                <a:ea typeface="Aptos"/>
                <a:cs typeface="Aptos"/>
              </a:rPr>
              <a:t>CORE FUNCTION</a:t>
            </a:r>
            <a:endParaRPr/>
          </a:p>
        </p:txBody>
      </p:sp>
      <p:sp>
        <p:nvSpPr>
          <p:cNvPr id="527446445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5/16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2038507911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9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 bwMode="auto">
          <a:xfrm>
            <a:off x="-1005840" y="525780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C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ounded Rectangle 3"/>
          <p:cNvSpPr/>
          <p:nvPr/>
        </p:nvSpPr>
        <p:spPr bwMode="auto">
          <a:xfrm>
            <a:off x="10515600" y="1005840"/>
            <a:ext cx="1371600" cy="1371600"/>
          </a:xfrm>
          <a:prstGeom prst="roundRect">
            <a:avLst>
              <a:gd name="adj" fmla="val 16667"/>
            </a:avLst>
          </a:prstGeom>
          <a:solidFill>
            <a:srgbClr val="1F0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530352" y="128016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100" b="1" i="0">
                <a:solidFill>
                  <a:srgbClr val="F6F2FF"/>
                </a:solidFill>
                <a:latin typeface="Aptos"/>
              </a:rPr>
              <a:t>How Matoi uses</a:t>
            </a:r>
            <a:br>
              <a:rPr sz="3100" b="1" i="0">
                <a:solidFill>
                  <a:srgbClr val="F6F2FF"/>
                </a:solidFill>
                <a:latin typeface="Aptos"/>
              </a:rPr>
            </a:br>
            <a:r>
              <a:rPr sz="3100" b="1" i="0">
                <a:solidFill>
                  <a:srgbClr val="F6F2FF"/>
                </a:solidFill>
                <a:latin typeface="Aptos"/>
              </a:rPr>
              <a:t>Circle.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 flipH="0" flipV="0">
            <a:off x="6774526" y="1691640"/>
            <a:ext cx="4492557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D2CCE2"/>
                </a:solidFill>
                <a:latin typeface="Aptos"/>
              </a:rPr>
              <a:t>Matoi uses Circle in three places: wallet control, USDC movement, and spend records.</a:t>
            </a:r>
            <a:endParaRPr/>
          </a:p>
        </p:txBody>
      </p:sp>
      <p:cxnSp>
        <p:nvCxnSpPr>
          <p:cNvPr id="14" name="Connector 13"/>
          <p:cNvCxnSpPr>
            <a:cxnSpLocks/>
          </p:cNvCxnSpPr>
          <p:nvPr/>
        </p:nvCxnSpPr>
        <p:spPr bwMode="auto">
          <a:xfrm>
            <a:off x="530352" y="2286000"/>
            <a:ext cx="11128248" cy="0"/>
          </a:xfrm>
          <a:prstGeom prst="line">
            <a:avLst/>
          </a:prstGeom>
          <a:ln w="15240">
            <a:solidFill>
              <a:srgbClr val="99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 bwMode="auto">
          <a:xfrm>
            <a:off x="566928" y="2606040"/>
            <a:ext cx="11064240" cy="80467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 bwMode="auto">
          <a:xfrm>
            <a:off x="566928" y="2606040"/>
            <a:ext cx="73152" cy="80467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77824" y="2770632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6F2FF"/>
                </a:solidFill>
                <a:latin typeface="Aptos"/>
              </a:rPr>
              <a:t>Developer Controlled Wallets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3886200" y="2752343"/>
            <a:ext cx="7223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Three role wallets on ARC-TESTNET: Trader, ArcResearch, Risk. They hold USDC and sign spend intents.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3886200" y="3044952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ABA6BE"/>
                </a:solidFill>
                <a:latin typeface="Aptos"/>
              </a:rPr>
              <a:t>BuyerAgent reads the role wallet, signs the spend intent, then passes the receipt back into the mission.</a:t>
            </a:r>
            <a:endParaRPr/>
          </a:p>
        </p:txBody>
      </p:sp>
      <p:sp>
        <p:nvSpPr>
          <p:cNvPr id="20" name="Rectangle 19"/>
          <p:cNvSpPr/>
          <p:nvPr/>
        </p:nvSpPr>
        <p:spPr bwMode="auto">
          <a:xfrm>
            <a:off x="566928" y="3584448"/>
            <a:ext cx="11064240" cy="80467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 bwMode="auto">
          <a:xfrm>
            <a:off x="566928" y="3584448"/>
            <a:ext cx="73152" cy="80467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77824" y="3749039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6F2FF"/>
                </a:solidFill>
                <a:latin typeface="Aptos"/>
              </a:rPr>
              <a:t>USDC transfer API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3886200" y="3730752"/>
            <a:ext cx="7223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A real testnet USDC transfer shows that the agent paid. Matoi calls the Circle transfer API end-to-end.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3886200" y="4023360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ABA6BE"/>
                </a:solidFill>
                <a:latin typeface="Aptos"/>
              </a:rPr>
              <a:t>After BuyerAgent picks a provider, the trader wallet authorizes and moves USDC to ArcResearch.</a:t>
            </a:r>
            <a:endParaRPr/>
          </a:p>
        </p:txBody>
      </p:sp>
      <p:sp>
        <p:nvSpPr>
          <p:cNvPr id="25" name="Rectangle 24"/>
          <p:cNvSpPr/>
          <p:nvPr/>
        </p:nvSpPr>
        <p:spPr bwMode="auto">
          <a:xfrm>
            <a:off x="566928" y="4562856"/>
            <a:ext cx="11064240" cy="80467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Rectangle 25"/>
          <p:cNvSpPr/>
          <p:nvPr/>
        </p:nvSpPr>
        <p:spPr bwMode="auto">
          <a:xfrm>
            <a:off x="566928" y="4562856"/>
            <a:ext cx="73152" cy="80467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877824" y="4727448"/>
            <a:ext cx="2788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6F2FF"/>
                </a:solidFill>
                <a:latin typeface="Aptos"/>
              </a:rPr>
              <a:t>Authorization ledger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3886200" y="4709160"/>
            <a:ext cx="7223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Authorized spend is written with idempotency keys. That prevents double-pay and silent loss.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3886200" y="5001768"/>
            <a:ext cx="7223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ABA6BE"/>
                </a:solidFill>
                <a:latin typeface="Aptos"/>
              </a:rPr>
              <a:t>The mission log shows what was authorized, what was paid, and what stayed simulation-only.</a:t>
            </a:r>
            <a:endParaRPr/>
          </a:p>
        </p:txBody>
      </p:sp>
      <p:sp>
        <p:nvSpPr>
          <p:cNvPr id="470363714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6/16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403099077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0470479" name="TextBox 10"/>
          <p:cNvSpPr txBox="1"/>
          <p:nvPr/>
        </p:nvSpPr>
        <p:spPr bwMode="auto">
          <a:xfrm flipH="0" flipV="0">
            <a:off x="530352" y="969263"/>
            <a:ext cx="1973011" cy="2194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defRPr/>
            </a:pPr>
            <a:r>
              <a:rPr lang="en-US" sz="1200" b="1" i="0" u="none" strike="noStrike" cap="none" spc="0">
                <a:solidFill>
                  <a:srgbClr val="A463FF"/>
                </a:solidFill>
                <a:latin typeface="Aptos"/>
                <a:ea typeface="Aptos"/>
                <a:cs typeface="Aptos"/>
              </a:rPr>
              <a:t>CIRCLE DEVELOPER TOOLS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9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 bwMode="auto">
          <a:xfrm>
            <a:off x="-1005840" y="525780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C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ounded Rectangle 3"/>
          <p:cNvSpPr/>
          <p:nvPr/>
        </p:nvSpPr>
        <p:spPr bwMode="auto">
          <a:xfrm>
            <a:off x="10515600" y="1005840"/>
            <a:ext cx="1371600" cy="1371600"/>
          </a:xfrm>
          <a:prstGeom prst="roundRect">
            <a:avLst>
              <a:gd name="adj" fmla="val 16667"/>
            </a:avLst>
          </a:prstGeom>
          <a:solidFill>
            <a:srgbClr val="1F0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0352" y="950976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6F2FF"/>
                </a:solidFill>
                <a:latin typeface="Aptos"/>
              </a:rPr>
              <a:t>Why Circle in</a:t>
            </a:r>
            <a:br>
              <a:rPr sz="3000" b="1" i="0">
                <a:solidFill>
                  <a:srgbClr val="F6F2FF"/>
                </a:solidFill>
                <a:latin typeface="Aptos"/>
              </a:rPr>
            </a:br>
            <a:r>
              <a:rPr sz="3000" b="1" i="0">
                <a:solidFill>
                  <a:srgbClr val="F6F2FF"/>
                </a:solidFill>
                <a:latin typeface="Aptos"/>
              </a:rPr>
              <a:t>our agent flow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 flipH="0" flipV="0">
            <a:off x="6433192" y="1362455"/>
            <a:ext cx="5349959" cy="45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D2CCE2"/>
                </a:solidFill>
                <a:latin typeface="Aptos"/>
              </a:rPr>
              <a:t>An agent economy needs controlled wallets, programmable payment calls, and a spend record the app can inspect.</a:t>
            </a:r>
            <a:endParaRPr/>
          </a:p>
        </p:txBody>
      </p:sp>
      <p:cxnSp>
        <p:nvCxnSpPr>
          <p:cNvPr id="13" name="Connector 12"/>
          <p:cNvCxnSpPr>
            <a:cxnSpLocks/>
          </p:cNvCxnSpPr>
          <p:nvPr/>
        </p:nvCxnSpPr>
        <p:spPr bwMode="auto">
          <a:xfrm>
            <a:off x="530352" y="1938528"/>
            <a:ext cx="11128248" cy="0"/>
          </a:xfrm>
          <a:prstGeom prst="line">
            <a:avLst/>
          </a:prstGeom>
          <a:ln w="15240">
            <a:solidFill>
              <a:srgbClr val="99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566928" y="2359152"/>
            <a:ext cx="3493008" cy="3246120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ectangle 14"/>
          <p:cNvSpPr/>
          <p:nvPr/>
        </p:nvSpPr>
        <p:spPr bwMode="auto">
          <a:xfrm>
            <a:off x="566928" y="2359152"/>
            <a:ext cx="3493008" cy="7315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86384" y="2670048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50" b="1" i="0" spc="80">
                <a:solidFill>
                  <a:srgbClr val="995BFF"/>
                </a:solidFill>
                <a:latin typeface="Aptos"/>
              </a:rPr>
              <a:t>PROBLEM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786384" y="3182112"/>
            <a:ext cx="303580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700" b="0" i="0">
                <a:solidFill>
                  <a:srgbClr val="F6F2FF"/>
                </a:solidFill>
                <a:latin typeface="Aptos"/>
              </a:rPr>
              <a:t>Agents need to hold funds, request payment, and prove what happened. Manual wallets break the flow.</a:t>
            </a:r>
            <a:endParaRPr/>
          </a:p>
        </p:txBody>
      </p:sp>
      <p:sp>
        <p:nvSpPr>
          <p:cNvPr id="18" name="Rectangle 17"/>
          <p:cNvSpPr/>
          <p:nvPr/>
        </p:nvSpPr>
        <p:spPr bwMode="auto">
          <a:xfrm>
            <a:off x="4352544" y="2359152"/>
            <a:ext cx="3493008" cy="3246120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4352544" y="2359152"/>
            <a:ext cx="3493008" cy="7315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4572000" y="2670048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50" b="1" i="0" spc="80">
                <a:solidFill>
                  <a:srgbClr val="995BFF"/>
                </a:solidFill>
                <a:latin typeface="Aptos"/>
              </a:rPr>
              <a:t>CIRCLE ANSWER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4572000" y="3182112"/>
            <a:ext cx="303580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700" b="0" i="0">
                <a:solidFill>
                  <a:srgbClr val="F6F2FF"/>
                </a:solidFill>
                <a:latin typeface="Aptos"/>
              </a:rPr>
              <a:t>Developer Controlled Wallets hold the role accounts. USDC APIs move testnet funds. The authorization ledger keeps the mission auditable.</a:t>
            </a:r>
            <a:endParaRPr/>
          </a:p>
        </p:txBody>
      </p:sp>
      <p:sp>
        <p:nvSpPr>
          <p:cNvPr id="22" name="Rectangle 21"/>
          <p:cNvSpPr/>
          <p:nvPr/>
        </p:nvSpPr>
        <p:spPr bwMode="auto">
          <a:xfrm>
            <a:off x="8138159" y="2359152"/>
            <a:ext cx="3493008" cy="3246120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Rectangle 22"/>
          <p:cNvSpPr/>
          <p:nvPr/>
        </p:nvSpPr>
        <p:spPr bwMode="auto">
          <a:xfrm>
            <a:off x="8138159" y="2359152"/>
            <a:ext cx="3493008" cy="73152"/>
          </a:xfrm>
          <a:prstGeom prst="rect">
            <a:avLst/>
          </a:prstGeom>
          <a:solidFill>
            <a:srgbClr val="7B4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8357615" y="2670048"/>
            <a:ext cx="3054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50" b="1" i="0" spc="80">
                <a:solidFill>
                  <a:srgbClr val="995BFF"/>
                </a:solidFill>
                <a:latin typeface="Aptos"/>
              </a:rPr>
              <a:t>WHY IT FITS MATOI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357615" y="3182112"/>
            <a:ext cx="3035808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700" b="0" i="0">
                <a:solidFill>
                  <a:srgbClr val="F6F2FF"/>
                </a:solidFill>
                <a:latin typeface="Aptos"/>
              </a:rPr>
              <a:t>The buyer agent can authorize a small spend, pay a provider, and continue the mission from one RUN click.</a:t>
            </a:r>
            <a:endParaRPr/>
          </a:p>
        </p:txBody>
      </p:sp>
      <p:sp>
        <p:nvSpPr>
          <p:cNvPr id="1401625240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7/16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111036381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9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 bwMode="auto">
          <a:xfrm>
            <a:off x="-1005840" y="5257800"/>
            <a:ext cx="2560320" cy="1097280"/>
          </a:xfrm>
          <a:prstGeom prst="roundRect">
            <a:avLst>
              <a:gd name="adj" fmla="val 16667"/>
            </a:avLst>
          </a:prstGeom>
          <a:solidFill>
            <a:srgbClr val="1C0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ounded Rectangle 3"/>
          <p:cNvSpPr/>
          <p:nvPr/>
        </p:nvSpPr>
        <p:spPr bwMode="auto">
          <a:xfrm>
            <a:off x="10515600" y="1005840"/>
            <a:ext cx="1371600" cy="1371600"/>
          </a:xfrm>
          <a:prstGeom prst="roundRect">
            <a:avLst>
              <a:gd name="adj" fmla="val 16667"/>
            </a:avLst>
          </a:prstGeom>
          <a:solidFill>
            <a:srgbClr val="1F0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0352" y="93268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2900" b="1" i="0">
                <a:solidFill>
                  <a:srgbClr val="F6F2FF"/>
                </a:solidFill>
                <a:latin typeface="Aptos"/>
              </a:rPr>
              <a:t>Where Circle shows up</a:t>
            </a:r>
            <a:br>
              <a:rPr sz="2900" b="1" i="0">
                <a:solidFill>
                  <a:srgbClr val="F6F2FF"/>
                </a:solidFill>
                <a:latin typeface="Aptos"/>
              </a:rPr>
            </a:br>
            <a:r>
              <a:rPr sz="2900" b="1" i="0">
                <a:solidFill>
                  <a:srgbClr val="F6F2FF"/>
                </a:solidFill>
                <a:latin typeface="Aptos"/>
              </a:rPr>
              <a:t>in one run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 flipH="0" flipV="0">
            <a:off x="6263640" y="1391689"/>
            <a:ext cx="5121360" cy="44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50" b="0" i="0">
                <a:solidFill>
                  <a:srgbClr val="D2CCE2"/>
                </a:solidFill>
                <a:latin typeface="Aptos"/>
              </a:rPr>
              <a:t>The UI has one RUN button. Under it, BuyerAgent discovers providers, authorizes spend, pays per call, and anchors proof.</a:t>
            </a:r>
            <a:endParaRPr/>
          </a:p>
        </p:txBody>
      </p:sp>
      <p:cxnSp>
        <p:nvCxnSpPr>
          <p:cNvPr id="13" name="Connector 12"/>
          <p:cNvCxnSpPr>
            <a:cxnSpLocks/>
          </p:cNvCxnSpPr>
          <p:nvPr/>
        </p:nvCxnSpPr>
        <p:spPr bwMode="auto">
          <a:xfrm>
            <a:off x="530352" y="1938528"/>
            <a:ext cx="11128248" cy="0"/>
          </a:xfrm>
          <a:prstGeom prst="line">
            <a:avLst/>
          </a:prstGeom>
          <a:ln w="15240">
            <a:solidFill>
              <a:srgbClr val="99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566928" y="2286000"/>
            <a:ext cx="11064240" cy="71323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Oval 14"/>
          <p:cNvSpPr/>
          <p:nvPr/>
        </p:nvSpPr>
        <p:spPr bwMode="auto">
          <a:xfrm>
            <a:off x="749808" y="2450592"/>
            <a:ext cx="384048" cy="384048"/>
          </a:xfrm>
          <a:prstGeom prst="ellipse">
            <a:avLst/>
          </a:prstGeom>
          <a:solidFill>
            <a:srgbClr val="7B48E5"/>
          </a:solidFill>
          <a:ln w="6350">
            <a:solidFill>
              <a:srgbClr val="7B4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49808" y="2569463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6F2FF"/>
                </a:solidFill>
                <a:latin typeface="Aptos"/>
              </a:rPr>
              <a:t>1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1417320" y="242316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6F2FF"/>
                </a:solidFill>
                <a:latin typeface="Aptos"/>
              </a:rPr>
              <a:t>Pick scenario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3886200" y="2441448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The user selects DAO treasury, market narrative, ETH risk, security shock, or provider marketplace.</a:t>
            </a:r>
            <a:endParaRPr/>
          </a:p>
        </p:txBody>
      </p:sp>
      <p:sp>
        <p:nvSpPr>
          <p:cNvPr id="19" name="Rectangle 18"/>
          <p:cNvSpPr/>
          <p:nvPr/>
        </p:nvSpPr>
        <p:spPr bwMode="auto">
          <a:xfrm>
            <a:off x="566928" y="3090672"/>
            <a:ext cx="11064240" cy="71323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Oval 19"/>
          <p:cNvSpPr/>
          <p:nvPr/>
        </p:nvSpPr>
        <p:spPr bwMode="auto">
          <a:xfrm>
            <a:off x="749808" y="3255264"/>
            <a:ext cx="384048" cy="384048"/>
          </a:xfrm>
          <a:prstGeom prst="ellipse">
            <a:avLst/>
          </a:prstGeom>
          <a:solidFill>
            <a:srgbClr val="7B48E5"/>
          </a:solidFill>
          <a:ln w="6350">
            <a:solidFill>
              <a:srgbClr val="7B4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749808" y="3374136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6F2FF"/>
                </a:solidFill>
                <a:latin typeface="Aptos"/>
              </a:rPr>
              <a:t>2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1417320" y="322783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6F2FF"/>
                </a:solidFill>
                <a:latin typeface="Aptos"/>
              </a:rPr>
              <a:t>Discover providers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3886200" y="3246120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BuyerAgent requests quotes and ranks them by budget and risk.</a:t>
            </a:r>
            <a:endParaRPr/>
          </a:p>
        </p:txBody>
      </p:sp>
      <p:sp>
        <p:nvSpPr>
          <p:cNvPr id="24" name="Rectangle 23"/>
          <p:cNvSpPr/>
          <p:nvPr/>
        </p:nvSpPr>
        <p:spPr bwMode="auto">
          <a:xfrm>
            <a:off x="566928" y="3895343"/>
            <a:ext cx="11064240" cy="71323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Oval 24"/>
          <p:cNvSpPr/>
          <p:nvPr/>
        </p:nvSpPr>
        <p:spPr bwMode="auto">
          <a:xfrm>
            <a:off x="749808" y="4059935"/>
            <a:ext cx="384048" cy="384048"/>
          </a:xfrm>
          <a:prstGeom prst="ellipse">
            <a:avLst/>
          </a:prstGeom>
          <a:solidFill>
            <a:srgbClr val="7B48E5"/>
          </a:solidFill>
          <a:ln w="6350">
            <a:solidFill>
              <a:srgbClr val="7B4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749808" y="416966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6F2FF"/>
                </a:solidFill>
                <a:latin typeface="Aptos"/>
              </a:rPr>
              <a:t>3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1417320" y="403250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6F2FF"/>
                </a:solidFill>
                <a:latin typeface="Aptos"/>
              </a:rPr>
              <a:t>Authorize spend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3886200" y="4050791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Trader wallet signs a small testnet USDC spend intent for each accepted provider.</a:t>
            </a:r>
            <a:endParaRPr/>
          </a:p>
        </p:txBody>
      </p:sp>
      <p:sp>
        <p:nvSpPr>
          <p:cNvPr id="29" name="Rectangle 28"/>
          <p:cNvSpPr/>
          <p:nvPr/>
        </p:nvSpPr>
        <p:spPr bwMode="auto">
          <a:xfrm>
            <a:off x="10561320" y="4096511"/>
            <a:ext cx="786384" cy="274320"/>
          </a:xfrm>
          <a:prstGeom prst="rect">
            <a:avLst/>
          </a:prstGeom>
          <a:solidFill>
            <a:srgbClr val="221446"/>
          </a:solidFill>
          <a:ln w="9525">
            <a:solidFill>
              <a:srgbClr val="9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10643616" y="4178807"/>
            <a:ext cx="621792" cy="731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700" b="1" i="0" spc="80">
                <a:solidFill>
                  <a:srgbClr val="995BFF"/>
                </a:solidFill>
                <a:latin typeface="Aptos"/>
              </a:rPr>
              <a:t>CIRCLE</a:t>
            </a:r>
            <a:endParaRPr/>
          </a:p>
        </p:txBody>
      </p:sp>
      <p:sp>
        <p:nvSpPr>
          <p:cNvPr id="31" name="Rectangle 30"/>
          <p:cNvSpPr/>
          <p:nvPr/>
        </p:nvSpPr>
        <p:spPr bwMode="auto">
          <a:xfrm>
            <a:off x="594360" y="4700016"/>
            <a:ext cx="11064240" cy="71323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Oval 31"/>
          <p:cNvSpPr/>
          <p:nvPr/>
        </p:nvSpPr>
        <p:spPr bwMode="auto">
          <a:xfrm>
            <a:off x="749808" y="4864607"/>
            <a:ext cx="384048" cy="384048"/>
          </a:xfrm>
          <a:prstGeom prst="ellipse">
            <a:avLst/>
          </a:prstGeom>
          <a:solidFill>
            <a:srgbClr val="7B48E5"/>
          </a:solidFill>
          <a:ln w="6350">
            <a:solidFill>
              <a:srgbClr val="7B4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749808" y="4974334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6F2FF"/>
                </a:solidFill>
                <a:latin typeface="Aptos"/>
              </a:rPr>
              <a:t>4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1417320" y="483717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6F2FF"/>
                </a:solidFill>
                <a:latin typeface="Aptos"/>
              </a:rPr>
              <a:t>Pay per call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3886200" y="4855464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The Hedera x402 facilitator settles the per-call price and returns a signed receipt.</a:t>
            </a:r>
            <a:endParaRPr/>
          </a:p>
        </p:txBody>
      </p:sp>
      <p:sp>
        <p:nvSpPr>
          <p:cNvPr id="36" name="Rectangle 35"/>
          <p:cNvSpPr/>
          <p:nvPr/>
        </p:nvSpPr>
        <p:spPr bwMode="auto">
          <a:xfrm>
            <a:off x="10561320" y="4901183"/>
            <a:ext cx="786384" cy="274320"/>
          </a:xfrm>
          <a:prstGeom prst="rect">
            <a:avLst/>
          </a:prstGeom>
          <a:solidFill>
            <a:srgbClr val="221446"/>
          </a:solidFill>
          <a:ln w="9525">
            <a:solidFill>
              <a:srgbClr val="99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10643616" y="4983479"/>
            <a:ext cx="621792" cy="731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700" b="1" i="0" spc="80">
                <a:solidFill>
                  <a:srgbClr val="995BFF"/>
                </a:solidFill>
                <a:latin typeface="Aptos"/>
              </a:rPr>
              <a:t>CIRCLE</a:t>
            </a:r>
            <a:endParaRPr/>
          </a:p>
        </p:txBody>
      </p:sp>
      <p:sp>
        <p:nvSpPr>
          <p:cNvPr id="38" name="Rectangle 37"/>
          <p:cNvSpPr/>
          <p:nvPr/>
        </p:nvSpPr>
        <p:spPr bwMode="auto">
          <a:xfrm>
            <a:off x="566928" y="5504687"/>
            <a:ext cx="11064240" cy="713232"/>
          </a:xfrm>
          <a:prstGeom prst="rect">
            <a:avLst/>
          </a:prstGeom>
          <a:solidFill>
            <a:srgbClr val="100D1B"/>
          </a:solidFill>
          <a:ln w="9525">
            <a:solidFill>
              <a:srgbClr val="563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Oval 38"/>
          <p:cNvSpPr/>
          <p:nvPr/>
        </p:nvSpPr>
        <p:spPr bwMode="auto">
          <a:xfrm>
            <a:off x="749808" y="5669279"/>
            <a:ext cx="384048" cy="384048"/>
          </a:xfrm>
          <a:prstGeom prst="ellipse">
            <a:avLst/>
          </a:prstGeom>
          <a:solidFill>
            <a:srgbClr val="7B48E5"/>
          </a:solidFill>
          <a:ln w="6350">
            <a:solidFill>
              <a:srgbClr val="7B4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749808" y="5788152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6F2FF"/>
                </a:solidFill>
                <a:latin typeface="Aptos"/>
              </a:rPr>
              <a:t>5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1417320" y="56418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6F2FF"/>
                </a:solidFill>
                <a:latin typeface="Aptos"/>
              </a:rPr>
              <a:t>Anchor proof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3886200" y="5660136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D2CCE2"/>
                </a:solidFill>
                <a:latin typeface="Aptos"/>
              </a:rPr>
              <a:t>The receipt hash is anchored to HCS. The mission remains simulation-only by default.</a:t>
            </a:r>
            <a:endParaRPr/>
          </a:p>
        </p:txBody>
      </p:sp>
      <p:sp>
        <p:nvSpPr>
          <p:cNvPr id="138600488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8/16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289336137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4892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338328" y="228600"/>
            <a:ext cx="914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6000" b="1">
                <a:solidFill>
                  <a:srgbClr val="1C1230"/>
                </a:solidFill>
                <a:latin typeface="Aptos"/>
              </a:rPr>
              <a:t>訳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11064240" y="49377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4800" b="1">
                <a:solidFill>
                  <a:srgbClr val="1C1230"/>
                </a:solidFill>
                <a:latin typeface="Aptos"/>
              </a:rPr>
              <a:t>買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566928" y="93268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A879FF"/>
                </a:solidFill>
                <a:latin typeface="Aptos"/>
              </a:rPr>
              <a:t>ARCHITECTURE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66928" y="123444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200" b="1">
                <a:solidFill>
                  <a:srgbClr val="F5F2FF"/>
                </a:solidFill>
                <a:latin typeface="Aptos"/>
              </a:rPr>
              <a:t>The buyer side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602784" y="1764792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D6D1E8"/>
                </a:solidFill>
                <a:latin typeface="Aptos"/>
              </a:rPr>
              <a:t>Where one RUN click becomes a priced mission.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 flipH="0" flipV="0">
            <a:off x="795527" y="2438039"/>
            <a:ext cx="1255608" cy="122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A879FF"/>
                </a:solidFill>
                <a:latin typeface="Aptos"/>
              </a:rPr>
              <a:t>BUYER-FACING SURFACE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 flipH="0" flipV="0">
            <a:off x="3602735" y="2438039"/>
            <a:ext cx="837464" cy="122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A879FF"/>
                </a:solidFill>
                <a:latin typeface="Aptos"/>
              </a:rPr>
              <a:t>AGENT RUNTIME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 flipH="0" flipV="0">
            <a:off x="6454944" y="2323739"/>
            <a:ext cx="2012400" cy="122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A879FF"/>
                </a:solidFill>
                <a:latin typeface="Aptos"/>
              </a:rPr>
              <a:t>MISSION ROUTES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 flipH="0" flipV="0">
            <a:off x="9390888" y="2651760"/>
            <a:ext cx="1071287" cy="1222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A879FF"/>
                </a:solidFill>
                <a:latin typeface="Aptos"/>
              </a:rPr>
              <a:t>PAYMENT BOUNDARY</a:t>
            </a:r>
            <a:endParaRPr/>
          </a:p>
        </p:txBody>
      </p:sp>
      <p:sp>
        <p:nvSpPr>
          <p:cNvPr id="15" name="Rounded Rectangle 14"/>
          <p:cNvSpPr/>
          <p:nvPr/>
        </p:nvSpPr>
        <p:spPr bwMode="auto">
          <a:xfrm>
            <a:off x="594360" y="2633472"/>
            <a:ext cx="2468880" cy="1051560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270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95528" y="2798064"/>
            <a:ext cx="20665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Control Room UI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795528" y="3072384"/>
            <a:ext cx="206654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>
                <a:solidFill>
                  <a:srgbClr val="9D9AAF"/>
                </a:solidFill>
                <a:latin typeface="Aptos"/>
              </a:rPr>
              <a:t>Next.js 16 · React · TypeScript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scenario picker · RUN button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A2A transcript</a:t>
            </a:r>
            <a:endParaRPr/>
          </a:p>
        </p:txBody>
      </p:sp>
      <p:sp>
        <p:nvSpPr>
          <p:cNvPr id="18" name="Rounded Rectangle 17"/>
          <p:cNvSpPr/>
          <p:nvPr/>
        </p:nvSpPr>
        <p:spPr bwMode="auto">
          <a:xfrm>
            <a:off x="3401568" y="2633472"/>
            <a:ext cx="2468880" cy="1051560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270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3602735" y="2798064"/>
            <a:ext cx="20665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BuyerAgent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3602735" y="3072384"/>
            <a:ext cx="2066544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>
                <a:solidFill>
                  <a:srgbClr val="9D9AAF"/>
                </a:solidFill>
                <a:latin typeface="Aptos"/>
              </a:rPr>
              <a:t>TypeScript scenario runner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mission · budget · risk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chooses providers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6199632" y="2487168"/>
            <a:ext cx="2468880" cy="777240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270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6400800" y="2651760"/>
            <a:ext cx="20665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/api/mission/run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6400800" y="2926080"/>
            <a:ext cx="2066544" cy="274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0">
                <a:solidFill>
                  <a:srgbClr val="9D9AAF"/>
                </a:solidFill>
                <a:latin typeface="Aptos"/>
              </a:rPr>
              <a:t>turns scenario into a transcript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discover · score · spend</a:t>
            </a:r>
            <a:endParaRPr/>
          </a:p>
        </p:txBody>
      </p:sp>
      <p:sp>
        <p:nvSpPr>
          <p:cNvPr id="24" name="Rounded Rectangle 23"/>
          <p:cNvSpPr/>
          <p:nvPr/>
        </p:nvSpPr>
        <p:spPr bwMode="auto">
          <a:xfrm>
            <a:off x="6199632" y="3419856"/>
            <a:ext cx="2468880" cy="777240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270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00800" y="3584448"/>
            <a:ext cx="20665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/api/x402/blocky402/pay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6400800" y="3858768"/>
            <a:ext cx="2066544" cy="274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0">
                <a:solidFill>
                  <a:srgbClr val="9D9AAF"/>
                </a:solidFill>
                <a:latin typeface="Aptos"/>
              </a:rPr>
              <a:t>paid request endpoint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used when Blocky402 is ON</a:t>
            </a:r>
            <a:endParaRPr/>
          </a:p>
        </p:txBody>
      </p:sp>
      <p:sp>
        <p:nvSpPr>
          <p:cNvPr id="27" name="Rounded Rectangle 26"/>
          <p:cNvSpPr/>
          <p:nvPr/>
        </p:nvSpPr>
        <p:spPr bwMode="auto">
          <a:xfrm>
            <a:off x="9189720" y="2816352"/>
            <a:ext cx="2468880" cy="960120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270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9390888" y="2980944"/>
            <a:ext cx="2066544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Blocky402 toggle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9390888" y="3255264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50" b="0">
                <a:solidFill>
                  <a:srgbClr val="9D9AAF"/>
                </a:solidFill>
                <a:latin typeface="Aptos"/>
              </a:rPr>
              <a:t>keeps real payments explicit</a:t>
            </a:r>
            <a:br>
              <a:rPr sz="850" b="0">
                <a:solidFill>
                  <a:srgbClr val="9D9AAF"/>
                </a:solidFill>
                <a:latin typeface="Aptos"/>
              </a:rPr>
            </a:br>
            <a:r>
              <a:rPr sz="850" b="0">
                <a:solidFill>
                  <a:srgbClr val="9D9AAF"/>
                </a:solidFill>
                <a:latin typeface="Aptos"/>
              </a:rPr>
              <a:t>returns receipt data to mission</a:t>
            </a:r>
            <a:endParaRPr/>
          </a:p>
        </p:txBody>
      </p:sp>
      <p:cxnSp>
        <p:nvCxnSpPr>
          <p:cNvPr id="30" name="Connector 29"/>
          <p:cNvCxnSpPr>
            <a:cxnSpLocks/>
          </p:cNvCxnSpPr>
          <p:nvPr/>
        </p:nvCxnSpPr>
        <p:spPr bwMode="auto">
          <a:xfrm>
            <a:off x="3063240" y="3154680"/>
            <a:ext cx="338328" cy="0"/>
          </a:xfrm>
          <a:prstGeom prst="line">
            <a:avLst/>
          </a:prstGeom>
          <a:ln w="25400">
            <a:solidFill>
              <a:srgbClr val="A87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cxnSpLocks/>
          </p:cNvCxnSpPr>
          <p:nvPr/>
        </p:nvCxnSpPr>
        <p:spPr bwMode="auto">
          <a:xfrm flipV="1">
            <a:off x="5870448" y="2852928"/>
            <a:ext cx="329184" cy="301752"/>
          </a:xfrm>
          <a:prstGeom prst="line">
            <a:avLst/>
          </a:prstGeom>
          <a:ln w="25400">
            <a:solidFill>
              <a:srgbClr val="A87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</p:cNvCxnSpPr>
          <p:nvPr/>
        </p:nvCxnSpPr>
        <p:spPr bwMode="auto">
          <a:xfrm>
            <a:off x="5870448" y="3154680"/>
            <a:ext cx="329184" cy="649224"/>
          </a:xfrm>
          <a:prstGeom prst="line">
            <a:avLst/>
          </a:prstGeom>
          <a:ln w="25400">
            <a:solidFill>
              <a:srgbClr val="A87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</p:cNvCxnSpPr>
          <p:nvPr/>
        </p:nvCxnSpPr>
        <p:spPr bwMode="auto">
          <a:xfrm>
            <a:off x="8668512" y="2871216"/>
            <a:ext cx="521208" cy="256032"/>
          </a:xfrm>
          <a:prstGeom prst="line">
            <a:avLst/>
          </a:prstGeom>
          <a:ln w="25400">
            <a:solidFill>
              <a:srgbClr val="7EF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 bwMode="auto">
          <a:xfrm flipV="1">
            <a:off x="8668512" y="3429000"/>
            <a:ext cx="521208" cy="365760"/>
          </a:xfrm>
          <a:prstGeom prst="line">
            <a:avLst/>
          </a:prstGeom>
          <a:ln w="25400">
            <a:solidFill>
              <a:srgbClr val="7EF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 bwMode="auto">
          <a:xfrm>
            <a:off x="566928" y="4663440"/>
            <a:ext cx="11064240" cy="1325880"/>
          </a:xfrm>
          <a:prstGeom prst="roundRect">
            <a:avLst>
              <a:gd name="adj" fmla="val 16667"/>
            </a:avLst>
          </a:prstGeom>
          <a:solidFill>
            <a:srgbClr val="0E1017"/>
          </a:solidFill>
          <a:ln w="1270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841248" y="4864607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1">
                <a:solidFill>
                  <a:srgbClr val="A879FF"/>
                </a:solidFill>
                <a:latin typeface="Aptos"/>
              </a:rPr>
              <a:t>WHAT THIS SLIDE PROVES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841248" y="519379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5F2FF"/>
                </a:solidFill>
                <a:latin typeface="Aptos"/>
              </a:rPr>
              <a:t>The buyer side is small on purpose. The user picks a scenario, then the agent owns the mission logic and calls only two routes before the payment rail takes over.</a:t>
            </a:r>
            <a:endParaRPr/>
          </a:p>
        </p:txBody>
      </p:sp>
      <p:sp>
        <p:nvSpPr>
          <p:cNvPr id="38" name="Rounded Rectangle 37"/>
          <p:cNvSpPr/>
          <p:nvPr/>
        </p:nvSpPr>
        <p:spPr bwMode="auto">
          <a:xfrm>
            <a:off x="6446520" y="4983480"/>
            <a:ext cx="1024128" cy="530352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016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6537959" y="5074920"/>
            <a:ext cx="8412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5F2FF"/>
                </a:solidFill>
                <a:latin typeface="Aptos"/>
              </a:rPr>
              <a:t>UI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6537959" y="5266944"/>
            <a:ext cx="8412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>
                <a:solidFill>
                  <a:srgbClr val="8E8BA0"/>
                </a:solidFill>
                <a:latin typeface="Aptos"/>
              </a:rPr>
              <a:t>scenario + RUN</a:t>
            </a:r>
            <a:endParaRPr/>
          </a:p>
        </p:txBody>
      </p:sp>
      <p:sp>
        <p:nvSpPr>
          <p:cNvPr id="41" name="Rounded Rectangle 40"/>
          <p:cNvSpPr/>
          <p:nvPr/>
        </p:nvSpPr>
        <p:spPr bwMode="auto">
          <a:xfrm>
            <a:off x="7680960" y="4983480"/>
            <a:ext cx="1024128" cy="530352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016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7772400" y="5074920"/>
            <a:ext cx="8412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5F2FF"/>
                </a:solidFill>
                <a:latin typeface="Aptos"/>
              </a:rPr>
              <a:t>Agent</a:t>
            </a: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7772400" y="5266944"/>
            <a:ext cx="8412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>
                <a:solidFill>
                  <a:srgbClr val="8E8BA0"/>
                </a:solidFill>
                <a:latin typeface="Aptos"/>
              </a:rPr>
              <a:t>budget + risk</a:t>
            </a:r>
            <a:endParaRPr/>
          </a:p>
        </p:txBody>
      </p:sp>
      <p:sp>
        <p:nvSpPr>
          <p:cNvPr id="44" name="Rounded Rectangle 43"/>
          <p:cNvSpPr/>
          <p:nvPr/>
        </p:nvSpPr>
        <p:spPr bwMode="auto">
          <a:xfrm>
            <a:off x="8915400" y="4983480"/>
            <a:ext cx="1024128" cy="530352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016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TextBox 44"/>
          <p:cNvSpPr txBox="1"/>
          <p:nvPr/>
        </p:nvSpPr>
        <p:spPr bwMode="auto">
          <a:xfrm>
            <a:off x="9006840" y="5074920"/>
            <a:ext cx="8412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5F2FF"/>
                </a:solidFill>
                <a:latin typeface="Aptos"/>
              </a:rPr>
              <a:t>Routes</a:t>
            </a:r>
            <a:endParaRPr/>
          </a:p>
        </p:txBody>
      </p:sp>
      <p:sp>
        <p:nvSpPr>
          <p:cNvPr id="46" name="TextBox 45"/>
          <p:cNvSpPr txBox="1"/>
          <p:nvPr/>
        </p:nvSpPr>
        <p:spPr bwMode="auto">
          <a:xfrm>
            <a:off x="9006840" y="5266944"/>
            <a:ext cx="8412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>
                <a:solidFill>
                  <a:srgbClr val="8E8BA0"/>
                </a:solidFill>
                <a:latin typeface="Aptos"/>
              </a:rPr>
              <a:t>mission + 402</a:t>
            </a:r>
            <a:endParaRPr/>
          </a:p>
        </p:txBody>
      </p:sp>
      <p:sp>
        <p:nvSpPr>
          <p:cNvPr id="47" name="Rounded Rectangle 46"/>
          <p:cNvSpPr/>
          <p:nvPr/>
        </p:nvSpPr>
        <p:spPr bwMode="auto">
          <a:xfrm>
            <a:off x="10149840" y="4983480"/>
            <a:ext cx="1024128" cy="530352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016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TextBox 47"/>
          <p:cNvSpPr txBox="1"/>
          <p:nvPr/>
        </p:nvSpPr>
        <p:spPr bwMode="auto">
          <a:xfrm>
            <a:off x="10241280" y="5074920"/>
            <a:ext cx="8412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00" b="1">
                <a:solidFill>
                  <a:srgbClr val="F5F2FF"/>
                </a:solidFill>
                <a:latin typeface="Aptos"/>
              </a:rPr>
              <a:t>Output</a:t>
            </a:r>
            <a:endParaRPr/>
          </a:p>
        </p:txBody>
      </p:sp>
      <p:sp>
        <p:nvSpPr>
          <p:cNvPr id="49" name="TextBox 48"/>
          <p:cNvSpPr txBox="1"/>
          <p:nvPr/>
        </p:nvSpPr>
        <p:spPr bwMode="auto">
          <a:xfrm>
            <a:off x="10241280" y="5266944"/>
            <a:ext cx="84124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750" b="0">
                <a:solidFill>
                  <a:srgbClr val="8E8BA0"/>
                </a:solidFill>
                <a:latin typeface="Aptos"/>
              </a:rPr>
              <a:t>transcript</a:t>
            </a:r>
            <a:endParaRPr/>
          </a:p>
        </p:txBody>
      </p:sp>
      <p:sp>
        <p:nvSpPr>
          <p:cNvPr id="50" name="TextBox 49"/>
          <p:cNvSpPr txBox="1"/>
          <p:nvPr/>
        </p:nvSpPr>
        <p:spPr bwMode="auto">
          <a:xfrm>
            <a:off x="594360" y="6199632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Next: provider sources. The same buyer can pay different agents without changing this surface.</a:t>
            </a:r>
            <a:endParaRPr/>
          </a:p>
        </p:txBody>
      </p:sp>
      <p:sp>
        <p:nvSpPr>
          <p:cNvPr id="1751029672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9/16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467912255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9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3977639" y="2176272"/>
            <a:ext cx="2816352" cy="2084831"/>
          </a:xfrm>
          <a:prstGeom prst="roundRect">
            <a:avLst>
              <a:gd name="adj" fmla="val 16667"/>
            </a:avLst>
          </a:prstGeom>
          <a:solidFill>
            <a:srgbClr val="0E1018"/>
          </a:solidFill>
          <a:ln w="8890">
            <a:solidFill>
              <a:srgbClr val="2E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384048" y="52120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5200" b="1">
                <a:solidFill>
                  <a:srgbClr val="1B1230"/>
                </a:solidFill>
                <a:latin typeface="Aptos"/>
              </a:rPr>
              <a:t>源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 flipH="0" flipV="0">
            <a:off x="566928" y="932688"/>
            <a:ext cx="1235769" cy="198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A879FF"/>
                </a:solidFill>
                <a:latin typeface="Aptos"/>
              </a:rPr>
              <a:t>ARCHITECTURE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566928" y="124358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200" b="1">
                <a:solidFill>
                  <a:srgbClr val="F5F2FF"/>
                </a:solidFill>
                <a:latin typeface="Aptos"/>
              </a:rPr>
              <a:t>Provider sources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594360" y="1773936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D6D1E8"/>
                </a:solidFill>
                <a:latin typeface="Aptos"/>
              </a:rPr>
              <a:t>Where the intelligence enters the market.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594360" y="2304288"/>
            <a:ext cx="3063240" cy="1874519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397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841248" y="254203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00" b="1">
                <a:solidFill>
                  <a:srgbClr val="A879FF"/>
                </a:solidFill>
                <a:latin typeface="Aptos"/>
              </a:rPr>
              <a:t>LIVE SOURCE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850392" y="2724911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700" b="1">
                <a:solidFill>
                  <a:srgbClr val="F5F2FF"/>
                </a:solidFill>
                <a:latin typeface="Aptos"/>
              </a:rPr>
              <a:t>TelegramPulse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850391" y="3044952"/>
            <a:ext cx="2359152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BDB8CF"/>
                </a:solidFill>
                <a:latin typeface="Aptos"/>
              </a:rPr>
              <a:t>Telethon reader bridge pulls a public Telegram stream, scores sentiment and intensity, then exposes the signal behind a 402 boundary.</a:t>
            </a:r>
            <a:endParaRPr/>
          </a:p>
        </p:txBody>
      </p:sp>
      <p:sp>
        <p:nvSpPr>
          <p:cNvPr id="15" name="Rounded Rectangle 14"/>
          <p:cNvSpPr/>
          <p:nvPr/>
        </p:nvSpPr>
        <p:spPr bwMode="auto">
          <a:xfrm>
            <a:off x="841248" y="3739896"/>
            <a:ext cx="2057400" cy="292608"/>
          </a:xfrm>
          <a:prstGeom prst="roundRect">
            <a:avLst>
              <a:gd name="adj" fmla="val 16667"/>
            </a:avLst>
          </a:prstGeom>
          <a:solidFill>
            <a:srgbClr val="1A1630"/>
          </a:solidFill>
          <a:ln w="10160">
            <a:solidFill>
              <a:srgbClr val="614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978408" y="3831335"/>
            <a:ext cx="178308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7EFAD7"/>
                </a:solidFill>
                <a:latin typeface="Aptos"/>
              </a:rPr>
              <a:t>HASHED SAMPLE · PAID CALL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4224528" y="2432303"/>
            <a:ext cx="2331720" cy="1572768"/>
          </a:xfrm>
          <a:prstGeom prst="roundRect">
            <a:avLst>
              <a:gd name="adj" fmla="val 16667"/>
            </a:avLst>
          </a:prstGeom>
          <a:solidFill>
            <a:srgbClr val="151826"/>
          </a:solidFill>
          <a:ln w="15240">
            <a:solidFill>
              <a:srgbClr val="594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480560" y="2724911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F5F2FF"/>
                </a:solidFill>
                <a:latin typeface="Aptos"/>
              </a:rPr>
              <a:t>Provider Agents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4599432" y="3072384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BDB8CF"/>
                </a:solidFill>
                <a:latin typeface="Aptos"/>
              </a:rPr>
              <a:t>read source</a:t>
            </a:r>
            <a:br>
              <a:rPr sz="1000" b="0">
                <a:solidFill>
                  <a:srgbClr val="BDB8CF"/>
                </a:solidFill>
                <a:latin typeface="Aptos"/>
              </a:rPr>
            </a:br>
            <a:r>
              <a:rPr sz="1000" b="0">
                <a:solidFill>
                  <a:srgbClr val="BDB8CF"/>
                </a:solidFill>
                <a:latin typeface="Aptos"/>
              </a:rPr>
              <a:t>score item</a:t>
            </a:r>
            <a:br>
              <a:rPr sz="1000" b="0">
                <a:solidFill>
                  <a:srgbClr val="BDB8CF"/>
                </a:solidFill>
                <a:latin typeface="Aptos"/>
              </a:rPr>
            </a:br>
            <a:r>
              <a:rPr sz="1000" b="0">
                <a:solidFill>
                  <a:srgbClr val="BDB8CF"/>
                </a:solidFill>
                <a:latin typeface="Aptos"/>
              </a:rPr>
              <a:t>quote price</a:t>
            </a:r>
            <a:br>
              <a:rPr sz="1000" b="0">
                <a:solidFill>
                  <a:srgbClr val="BDB8CF"/>
                </a:solidFill>
                <a:latin typeface="Aptos"/>
              </a:rPr>
            </a:br>
            <a:r>
              <a:rPr sz="1000" b="0">
                <a:solidFill>
                  <a:srgbClr val="BDB8CF"/>
                </a:solidFill>
                <a:latin typeface="Aptos"/>
              </a:rPr>
              <a:t>publish catalog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549640" y="2514600"/>
            <a:ext cx="2880360" cy="1481328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3970">
            <a:solidFill>
              <a:srgbClr val="4A4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851392" y="2724911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700" b="1">
                <a:solidFill>
                  <a:srgbClr val="F5F2FF"/>
                </a:solidFill>
                <a:latin typeface="Aptos"/>
              </a:rPr>
              <a:t>BuyerAgent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8887968" y="3049523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BDB8CF"/>
                </a:solidFill>
                <a:latin typeface="Aptos"/>
              </a:rPr>
              <a:t>chooses providers by task, budget and risk</a:t>
            </a:r>
            <a:br>
              <a:rPr sz="1000" b="0">
                <a:solidFill>
                  <a:srgbClr val="BDB8CF"/>
                </a:solidFill>
                <a:latin typeface="Aptos"/>
              </a:rPr>
            </a:br>
            <a:r>
              <a:rPr sz="1000" b="0">
                <a:solidFill>
                  <a:srgbClr val="BDB8CF"/>
                </a:solidFill>
                <a:latin typeface="Aptos"/>
              </a:rPr>
              <a:t>then pays per accepted call</a:t>
            </a:r>
            <a:endParaRPr/>
          </a:p>
        </p:txBody>
      </p:sp>
      <p:sp>
        <p:nvSpPr>
          <p:cNvPr id="24" name="Rounded Rectangle 23"/>
          <p:cNvSpPr/>
          <p:nvPr/>
        </p:nvSpPr>
        <p:spPr bwMode="auto">
          <a:xfrm>
            <a:off x="9189720" y="3611880"/>
            <a:ext cx="1600200" cy="256032"/>
          </a:xfrm>
          <a:prstGeom prst="roundRect">
            <a:avLst>
              <a:gd name="adj" fmla="val 16667"/>
            </a:avLst>
          </a:prstGeom>
          <a:solidFill>
            <a:srgbClr val="111E20"/>
          </a:solidFill>
          <a:ln w="10160">
            <a:solidFill>
              <a:srgbClr val="366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9326880" y="3685032"/>
            <a:ext cx="132588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7EFAD7"/>
                </a:solidFill>
                <a:latin typeface="Aptos"/>
              </a:rPr>
              <a:t>QUOTE ACCEPTED</a:t>
            </a:r>
            <a:endParaRPr/>
          </a:p>
        </p:txBody>
      </p:sp>
      <p:cxnSp>
        <p:nvCxnSpPr>
          <p:cNvPr id="26" name="Connector 25"/>
          <p:cNvCxnSpPr>
            <a:cxnSpLocks/>
          </p:cNvCxnSpPr>
          <p:nvPr/>
        </p:nvCxnSpPr>
        <p:spPr bwMode="auto">
          <a:xfrm>
            <a:off x="3657600" y="3236976"/>
            <a:ext cx="566928" cy="0"/>
          </a:xfrm>
          <a:prstGeom prst="line">
            <a:avLst/>
          </a:prstGeom>
          <a:ln w="25400">
            <a:solidFill>
              <a:srgbClr val="A87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 bwMode="auto">
          <a:xfrm>
            <a:off x="6556248" y="3236976"/>
            <a:ext cx="1993392" cy="0"/>
          </a:xfrm>
          <a:prstGeom prst="line">
            <a:avLst/>
          </a:prstGeom>
          <a:ln w="25400">
            <a:solidFill>
              <a:srgbClr val="7EF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 bwMode="auto">
          <a:xfrm>
            <a:off x="6903720" y="296265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>
                <a:solidFill>
                  <a:srgbClr val="7EFAD7"/>
                </a:solidFill>
                <a:latin typeface="Aptos"/>
              </a:rPr>
              <a:t>CATALOG + PRICE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>
            <a:off x="594360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704088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TelegramNews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704088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headline feed</a:t>
            </a:r>
            <a:endParaRPr/>
          </a:p>
        </p:txBody>
      </p:sp>
      <p:sp>
        <p:nvSpPr>
          <p:cNvPr id="32" name="Rounded Rectangle 31"/>
          <p:cNvSpPr/>
          <p:nvPr/>
        </p:nvSpPr>
        <p:spPr bwMode="auto">
          <a:xfrm>
            <a:off x="2487168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2596896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RSS News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2596896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CoinDesk / Cointelegraph</a:t>
            </a:r>
            <a:endParaRPr/>
          </a:p>
        </p:txBody>
      </p:sp>
      <p:sp>
        <p:nvSpPr>
          <p:cNvPr id="35" name="Rounded Rectangle 34"/>
          <p:cNvSpPr/>
          <p:nvPr/>
        </p:nvSpPr>
        <p:spPr bwMode="auto">
          <a:xfrm>
            <a:off x="4379976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4489704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CoinGecko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4489704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price + volume API</a:t>
            </a:r>
            <a:endParaRPr/>
          </a:p>
        </p:txBody>
      </p:sp>
      <p:sp>
        <p:nvSpPr>
          <p:cNvPr id="38" name="Rounded Rectangle 37"/>
          <p:cNvSpPr/>
          <p:nvPr/>
        </p:nvSpPr>
        <p:spPr bwMode="auto">
          <a:xfrm>
            <a:off x="6272784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6382512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DefiLlama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6382512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TVL + protocol flows</a:t>
            </a:r>
            <a:endParaRPr/>
          </a:p>
        </p:txBody>
      </p:sp>
      <p:sp>
        <p:nvSpPr>
          <p:cNvPr id="41" name="Rounded Rectangle 40"/>
          <p:cNvSpPr/>
          <p:nvPr/>
        </p:nvSpPr>
        <p:spPr bwMode="auto">
          <a:xfrm>
            <a:off x="8165592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8275320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GitHub Releases</a:t>
            </a: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8275320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release / security activity</a:t>
            </a:r>
            <a:endParaRPr/>
          </a:p>
        </p:txBody>
      </p:sp>
      <p:sp>
        <p:nvSpPr>
          <p:cNvPr id="44" name="Rounded Rectangle 43"/>
          <p:cNvSpPr/>
          <p:nvPr/>
        </p:nvSpPr>
        <p:spPr bwMode="auto">
          <a:xfrm>
            <a:off x="10058400" y="4663440"/>
            <a:ext cx="1700784" cy="694944"/>
          </a:xfrm>
          <a:prstGeom prst="roundRect">
            <a:avLst>
              <a:gd name="adj" fmla="val 16667"/>
            </a:avLst>
          </a:prstGeom>
          <a:solidFill>
            <a:srgbClr val="11131C"/>
          </a:solidFill>
          <a:ln w="1143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TextBox 44"/>
          <p:cNvSpPr txBox="1"/>
          <p:nvPr/>
        </p:nvSpPr>
        <p:spPr bwMode="auto">
          <a:xfrm>
            <a:off x="10168128" y="480060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950" b="1">
                <a:solidFill>
                  <a:srgbClr val="F5F2FF"/>
                </a:solidFill>
                <a:latin typeface="Aptos"/>
              </a:rPr>
              <a:t>OpenRouter</a:t>
            </a:r>
            <a:endParaRPr/>
          </a:p>
        </p:txBody>
      </p:sp>
      <p:sp>
        <p:nvSpPr>
          <p:cNvPr id="46" name="TextBox 45"/>
          <p:cNvSpPr txBox="1"/>
          <p:nvPr/>
        </p:nvSpPr>
        <p:spPr bwMode="auto">
          <a:xfrm>
            <a:off x="10168128" y="5020055"/>
            <a:ext cx="148132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8E8BA0"/>
                </a:solidFill>
                <a:latin typeface="Aptos"/>
              </a:rPr>
              <a:t>LLM evaluator</a:t>
            </a:r>
            <a:endParaRPr/>
          </a:p>
        </p:txBody>
      </p:sp>
      <p:cxnSp>
        <p:nvCxnSpPr>
          <p:cNvPr id="47" name="Connector 46"/>
          <p:cNvCxnSpPr>
            <a:cxnSpLocks/>
          </p:cNvCxnSpPr>
          <p:nvPr/>
        </p:nvCxnSpPr>
        <p:spPr bwMode="auto">
          <a:xfrm>
            <a:off x="1444752" y="4370832"/>
            <a:ext cx="0" cy="292608"/>
          </a:xfrm>
          <a:prstGeom prst="line">
            <a:avLst/>
          </a:prstGeom>
          <a:ln w="12700">
            <a:solidFill>
              <a:srgbClr val="2E2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cxnSpLocks/>
          </p:cNvCxnSpPr>
          <p:nvPr/>
        </p:nvCxnSpPr>
        <p:spPr bwMode="auto">
          <a:xfrm>
            <a:off x="1444752" y="4370832"/>
            <a:ext cx="3950208" cy="0"/>
          </a:xfrm>
          <a:prstGeom prst="line">
            <a:avLst/>
          </a:prstGeom>
          <a:ln w="12700">
            <a:solidFill>
              <a:srgbClr val="2E2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>
            <a:cxnSpLocks/>
          </p:cNvCxnSpPr>
          <p:nvPr/>
        </p:nvCxnSpPr>
        <p:spPr bwMode="auto">
          <a:xfrm flipV="1">
            <a:off x="5394960" y="4005072"/>
            <a:ext cx="0" cy="365760"/>
          </a:xfrm>
          <a:prstGeom prst="line">
            <a:avLst/>
          </a:prstGeom>
          <a:ln w="15240">
            <a:solidFill>
              <a:srgbClr val="A87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 bwMode="auto">
          <a:xfrm>
            <a:off x="566928" y="5641848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0E1017"/>
          </a:solidFill>
          <a:ln w="12700">
            <a:solidFill>
              <a:srgbClr val="3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TextBox 50"/>
          <p:cNvSpPr txBox="1"/>
          <p:nvPr/>
        </p:nvSpPr>
        <p:spPr bwMode="auto">
          <a:xfrm>
            <a:off x="850392" y="5806440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5F2FF"/>
                </a:solidFill>
                <a:latin typeface="Aptos"/>
              </a:rPr>
              <a:t>Add one provider agent to the directory. The buyer flow and payment rail stay unchanged.</a:t>
            </a:r>
            <a:endParaRPr/>
          </a:p>
        </p:txBody>
      </p:sp>
      <p:sp>
        <p:nvSpPr>
          <p:cNvPr id="52" name="TextBox 51"/>
          <p:cNvSpPr txBox="1"/>
          <p:nvPr/>
        </p:nvSpPr>
        <p:spPr bwMode="auto">
          <a:xfrm>
            <a:off x="6446520" y="5806440"/>
            <a:ext cx="46177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>
                <a:solidFill>
                  <a:srgbClr val="BDB8CF"/>
                </a:solidFill>
                <a:latin typeface="Aptos"/>
              </a:rPr>
              <a:t>This is why the Telegram demo matters: it is one live source, not a special case.</a:t>
            </a:r>
            <a:endParaRPr/>
          </a:p>
        </p:txBody>
      </p:sp>
      <p:sp>
        <p:nvSpPr>
          <p:cNvPr id="1921769705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10/16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354487507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707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 bwMode="auto">
          <a:xfrm flipH="0" flipV="0">
            <a:off x="585216" y="1787927"/>
            <a:ext cx="4811003" cy="22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D3CFE5"/>
                </a:solidFill>
                <a:latin typeface="Aptos"/>
              </a:rPr>
              <a:t>How a paid provider call becomes a Hedera USDC receipt.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576072" y="2331720"/>
            <a:ext cx="5257800" cy="2057400"/>
          </a:xfrm>
          <a:prstGeom prst="roundRect">
            <a:avLst>
              <a:gd name="adj" fmla="val 16667"/>
            </a:avLst>
          </a:prstGeom>
          <a:solidFill>
            <a:srgbClr val="0B0C14"/>
          </a:solidFill>
          <a:ln w="13970">
            <a:solidFill>
              <a:srgbClr val="3E3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Rounded Rectangle 9"/>
          <p:cNvSpPr/>
          <p:nvPr/>
        </p:nvSpPr>
        <p:spPr bwMode="auto">
          <a:xfrm>
            <a:off x="6080760" y="2331720"/>
            <a:ext cx="5532120" cy="2057400"/>
          </a:xfrm>
          <a:prstGeom prst="roundRect">
            <a:avLst>
              <a:gd name="adj" fmla="val 16667"/>
            </a:avLst>
          </a:prstGeom>
          <a:solidFill>
            <a:srgbClr val="0B0C14"/>
          </a:solidFill>
          <a:ln w="13970">
            <a:solidFill>
              <a:srgbClr val="3E3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841248" y="2578608"/>
            <a:ext cx="2103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AC74FF"/>
                </a:solidFill>
                <a:latin typeface="Aptos"/>
              </a:rPr>
              <a:t>LOCAL PAYMENT PACKAGE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364224" y="2578608"/>
            <a:ext cx="2011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950" b="1">
                <a:solidFill>
                  <a:srgbClr val="AC74FF"/>
                </a:solidFill>
                <a:latin typeface="Aptos"/>
              </a:rPr>
              <a:t>SETTLEMENT RAIL</a:t>
            </a:r>
            <a:endParaRPr/>
          </a:p>
        </p:txBody>
      </p:sp>
      <p:cxnSp>
        <p:nvCxnSpPr>
          <p:cNvPr id="13" name="Connector 12"/>
          <p:cNvCxnSpPr>
            <a:cxnSpLocks/>
            <a:endCxn id="20" idx="1"/>
          </p:cNvCxnSpPr>
          <p:nvPr/>
        </p:nvCxnSpPr>
        <p:spPr bwMode="auto">
          <a:xfrm rot="0" flipH="0" flipV="0">
            <a:off x="2569463" y="3360420"/>
            <a:ext cx="512063" cy="0"/>
          </a:xfrm>
          <a:prstGeom prst="line">
            <a:avLst/>
          </a:prstGeom>
          <a:ln w="21590">
            <a:solidFill>
              <a:srgbClr val="AC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20" idx="3"/>
          </p:cNvCxnSpPr>
          <p:nvPr/>
        </p:nvCxnSpPr>
        <p:spPr bwMode="auto">
          <a:xfrm rot="0" flipH="0" flipV="0">
            <a:off x="4782311" y="3369564"/>
            <a:ext cx="348233" cy="0"/>
          </a:xfrm>
          <a:prstGeom prst="line">
            <a:avLst/>
          </a:prstGeom>
          <a:ln w="21590">
            <a:solidFill>
              <a:srgbClr val="AC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endCxn id="26" idx="1"/>
          </p:cNvCxnSpPr>
          <p:nvPr/>
        </p:nvCxnSpPr>
        <p:spPr bwMode="auto">
          <a:xfrm rot="0" flipH="0" flipV="0">
            <a:off x="6831329" y="3364992"/>
            <a:ext cx="547877" cy="0"/>
          </a:xfrm>
          <a:prstGeom prst="line">
            <a:avLst/>
          </a:prstGeom>
          <a:ln w="21590">
            <a:solidFill>
              <a:srgbClr val="77F6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26" idx="3"/>
          </p:cNvCxnSpPr>
          <p:nvPr/>
        </p:nvCxnSpPr>
        <p:spPr bwMode="auto">
          <a:xfrm rot="0" flipH="0" flipV="1">
            <a:off x="9079992" y="3362706"/>
            <a:ext cx="539496" cy="0"/>
          </a:xfrm>
          <a:prstGeom prst="line">
            <a:avLst/>
          </a:prstGeom>
          <a:ln w="21590">
            <a:solidFill>
              <a:srgbClr val="AC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 bwMode="auto">
          <a:xfrm>
            <a:off x="868680" y="2907792"/>
            <a:ext cx="1700784" cy="896112"/>
          </a:xfrm>
          <a:prstGeom prst="roundRect">
            <a:avLst>
              <a:gd name="adj" fmla="val 16667"/>
            </a:avLst>
          </a:prstGeom>
          <a:solidFill>
            <a:srgbClr val="13141F"/>
          </a:solidFill>
          <a:ln w="1270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978407" y="3072384"/>
            <a:ext cx="148132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F4F1FF"/>
                </a:solidFill>
                <a:latin typeface="Aptos"/>
              </a:rPr>
              <a:t>Build spend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987552" y="3346704"/>
            <a:ext cx="14630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9D9AB2"/>
                </a:solidFill>
                <a:latin typeface="Aptos"/>
              </a:rPr>
              <a:t>Pick quote</a:t>
            </a:r>
            <a:br>
              <a:rPr sz="1000" b="0">
                <a:solidFill>
                  <a:srgbClr val="9D9AB2"/>
                </a:solidFill>
                <a:latin typeface="Aptos"/>
              </a:rPr>
            </a:br>
            <a:r>
              <a:rPr sz="1000" b="0">
                <a:solidFill>
                  <a:srgbClr val="9D9AB2"/>
                </a:solidFill>
                <a:latin typeface="Aptos"/>
              </a:rPr>
              <a:t>prepare paid call</a:t>
            </a: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3081527" y="2916936"/>
            <a:ext cx="1700784" cy="896112"/>
          </a:xfrm>
          <a:prstGeom prst="roundRect">
            <a:avLst>
              <a:gd name="adj" fmla="val 16667"/>
            </a:avLst>
          </a:prstGeom>
          <a:solidFill>
            <a:srgbClr val="13141F"/>
          </a:solidFill>
          <a:ln w="1270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3191255" y="3099816"/>
            <a:ext cx="148132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F4F1FF"/>
                </a:solidFill>
                <a:latin typeface="Aptos"/>
              </a:rPr>
              <a:t>Sign transfer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3200399" y="3374136"/>
            <a:ext cx="14630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9D9AB2"/>
                </a:solidFill>
                <a:latin typeface="Aptos"/>
              </a:rPr>
              <a:t>Create signed</a:t>
            </a:r>
            <a:br>
              <a:rPr sz="1000" b="0">
                <a:solidFill>
                  <a:srgbClr val="9D9AB2"/>
                </a:solidFill>
                <a:latin typeface="Aptos"/>
              </a:rPr>
            </a:br>
            <a:r>
              <a:rPr sz="1000" b="0">
                <a:solidFill>
                  <a:srgbClr val="9D9AB2"/>
                </a:solidFill>
                <a:latin typeface="Aptos"/>
              </a:rPr>
              <a:t>USDC transaction</a:t>
            </a:r>
            <a:endParaRPr/>
          </a:p>
        </p:txBody>
      </p:sp>
      <p:sp>
        <p:nvSpPr>
          <p:cNvPr id="23" name="Rounded Rectangle 22"/>
          <p:cNvSpPr/>
          <p:nvPr/>
        </p:nvSpPr>
        <p:spPr bwMode="auto">
          <a:xfrm>
            <a:off x="5130545" y="2916936"/>
            <a:ext cx="1700784" cy="896112"/>
          </a:xfrm>
          <a:prstGeom prst="roundRect">
            <a:avLst>
              <a:gd name="adj" fmla="val 16667"/>
            </a:avLst>
          </a:prstGeom>
          <a:solidFill>
            <a:srgbClr val="13141F"/>
          </a:solidFill>
          <a:ln w="1270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5240273" y="3081528"/>
            <a:ext cx="148132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F4F1FF"/>
                </a:solidFill>
                <a:latin typeface="Aptos"/>
              </a:rPr>
              <a:t>Attach header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5249417" y="3355848"/>
            <a:ext cx="14630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9D9AB2"/>
                </a:solidFill>
                <a:latin typeface="Aptos"/>
              </a:rPr>
              <a:t>Attach x402 signature</a:t>
            </a:r>
            <a:br>
              <a:rPr sz="1000" b="0">
                <a:solidFill>
                  <a:srgbClr val="9D9AB2"/>
                </a:solidFill>
                <a:latin typeface="Aptos"/>
              </a:rPr>
            </a:br>
            <a:r>
              <a:rPr sz="1000" b="0">
                <a:solidFill>
                  <a:srgbClr val="9D9AB2"/>
                </a:solidFill>
                <a:latin typeface="Aptos"/>
              </a:rPr>
              <a:t>to the request</a:t>
            </a:r>
            <a:endParaRPr/>
          </a:p>
        </p:txBody>
      </p:sp>
      <p:sp>
        <p:nvSpPr>
          <p:cNvPr id="26" name="Rounded Rectangle 25"/>
          <p:cNvSpPr/>
          <p:nvPr/>
        </p:nvSpPr>
        <p:spPr bwMode="auto">
          <a:xfrm>
            <a:off x="7379208" y="2916936"/>
            <a:ext cx="1700784" cy="896112"/>
          </a:xfrm>
          <a:prstGeom prst="roundRect">
            <a:avLst>
              <a:gd name="adj" fmla="val 16667"/>
            </a:avLst>
          </a:prstGeom>
          <a:solidFill>
            <a:srgbClr val="13141F"/>
          </a:solidFill>
          <a:ln w="1270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7488936" y="3081528"/>
            <a:ext cx="148132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F4F1FF"/>
                </a:solidFill>
                <a:latin typeface="Aptos"/>
              </a:rPr>
              <a:t>Settle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7498080" y="3355848"/>
            <a:ext cx="14630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9D9AB2"/>
                </a:solidFill>
                <a:latin typeface="Aptos"/>
              </a:rPr>
              <a:t>Blocky402 route</a:t>
            </a:r>
            <a:br>
              <a:rPr sz="1000" b="0">
                <a:solidFill>
                  <a:srgbClr val="9D9AB2"/>
                </a:solidFill>
                <a:latin typeface="Aptos"/>
              </a:rPr>
            </a:br>
            <a:r>
              <a:rPr sz="1000" b="0">
                <a:solidFill>
                  <a:srgbClr val="9D9AB2"/>
                </a:solidFill>
                <a:latin typeface="Aptos"/>
              </a:rPr>
              <a:t>verifies the call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>
            <a:off x="9619488" y="2898648"/>
            <a:ext cx="1700784" cy="896112"/>
          </a:xfrm>
          <a:prstGeom prst="roundRect">
            <a:avLst>
              <a:gd name="adj" fmla="val 16667"/>
            </a:avLst>
          </a:prstGeom>
          <a:solidFill>
            <a:srgbClr val="13141F"/>
          </a:solidFill>
          <a:ln w="1270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9729215" y="3063239"/>
            <a:ext cx="148132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350" b="1">
                <a:solidFill>
                  <a:srgbClr val="F4F1FF"/>
                </a:solidFill>
                <a:latin typeface="Aptos"/>
              </a:rPr>
              <a:t>Receipt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9738360" y="3337560"/>
            <a:ext cx="1463040" cy="3291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1000" b="0">
                <a:solidFill>
                  <a:srgbClr val="9D9AB2"/>
                </a:solidFill>
                <a:latin typeface="Aptos"/>
              </a:rPr>
              <a:t>USDC receipt</a:t>
            </a:r>
            <a:br>
              <a:rPr sz="1000" b="0">
                <a:solidFill>
                  <a:srgbClr val="9D9AB2"/>
                </a:solidFill>
                <a:latin typeface="Aptos"/>
              </a:rPr>
            </a:br>
            <a:r>
              <a:rPr sz="1000" b="0">
                <a:solidFill>
                  <a:srgbClr val="9D9AB2"/>
                </a:solidFill>
                <a:latin typeface="Aptos"/>
              </a:rPr>
              <a:t>plus tx hash</a:t>
            </a:r>
            <a:endParaRPr/>
          </a:p>
        </p:txBody>
      </p:sp>
      <p:sp>
        <p:nvSpPr>
          <p:cNvPr id="32" name="Rounded Rectangle 31"/>
          <p:cNvSpPr/>
          <p:nvPr/>
        </p:nvSpPr>
        <p:spPr bwMode="auto">
          <a:xfrm>
            <a:off x="576072" y="4892039"/>
            <a:ext cx="11018520" cy="1143000"/>
          </a:xfrm>
          <a:prstGeom prst="roundRect">
            <a:avLst>
              <a:gd name="adj" fmla="val 16667"/>
            </a:avLst>
          </a:prstGeom>
          <a:solidFill>
            <a:srgbClr val="10111B"/>
          </a:solidFill>
          <a:ln w="13970">
            <a:solidFill>
              <a:srgbClr val="3D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859536" y="5138928"/>
            <a:ext cx="1234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1050" b="1">
                <a:solidFill>
                  <a:srgbClr val="AC74FF"/>
                </a:solidFill>
                <a:latin typeface="Aptos"/>
              </a:rPr>
              <a:t>TECHNICAL PATH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2148840" y="5102352"/>
            <a:ext cx="676656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4F1FF"/>
                </a:solidFill>
                <a:latin typeface="Aptos"/>
              </a:rPr>
              <a:t>ECDSA key → USDC transfer → x402 header → /settle → receipt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859536" y="5550408"/>
            <a:ext cx="66294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CDC8E0"/>
                </a:solidFill>
                <a:latin typeface="Aptos"/>
              </a:rPr>
              <a:t>The mission stores receiptId and txHash in the transcript. HCS anchors the proof on the next slide.</a:t>
            </a:r>
            <a:endParaRPr/>
          </a:p>
        </p:txBody>
      </p:sp>
      <p:sp>
        <p:nvSpPr>
          <p:cNvPr id="36" name="Rounded Rectangle 35"/>
          <p:cNvSpPr/>
          <p:nvPr/>
        </p:nvSpPr>
        <p:spPr bwMode="auto">
          <a:xfrm>
            <a:off x="7909560" y="5413248"/>
            <a:ext cx="960120" cy="384048"/>
          </a:xfrm>
          <a:prstGeom prst="roundRect">
            <a:avLst>
              <a:gd name="adj" fmla="val 16667"/>
            </a:avLst>
          </a:prstGeom>
          <a:solidFill>
            <a:srgbClr val="161723"/>
          </a:solidFill>
          <a:ln w="1016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7955280" y="5477255"/>
            <a:ext cx="868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50" b="1">
                <a:solidFill>
                  <a:srgbClr val="F4F1FF"/>
                </a:solidFill>
                <a:latin typeface="Aptos"/>
              </a:rPr>
              <a:t>USDC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7955280" y="5614416"/>
            <a:ext cx="8686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9D9AB2"/>
                </a:solidFill>
                <a:latin typeface="Aptos"/>
              </a:rPr>
              <a:t>testnet transfer</a:t>
            </a:r>
            <a:endParaRPr/>
          </a:p>
        </p:txBody>
      </p:sp>
      <p:sp>
        <p:nvSpPr>
          <p:cNvPr id="39" name="Rounded Rectangle 38"/>
          <p:cNvSpPr/>
          <p:nvPr/>
        </p:nvSpPr>
        <p:spPr bwMode="auto">
          <a:xfrm>
            <a:off x="9025128" y="5413248"/>
            <a:ext cx="960120" cy="384048"/>
          </a:xfrm>
          <a:prstGeom prst="roundRect">
            <a:avLst>
              <a:gd name="adj" fmla="val 16667"/>
            </a:avLst>
          </a:prstGeom>
          <a:solidFill>
            <a:srgbClr val="161723"/>
          </a:solidFill>
          <a:ln w="1016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9070848" y="5477255"/>
            <a:ext cx="868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50" b="1">
                <a:solidFill>
                  <a:srgbClr val="77F6D5"/>
                </a:solidFill>
                <a:latin typeface="Aptos"/>
              </a:rPr>
              <a:t>x402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9070848" y="5614416"/>
            <a:ext cx="8686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9D9AB2"/>
                </a:solidFill>
                <a:latin typeface="Aptos"/>
              </a:rPr>
              <a:t>pay per call</a:t>
            </a:r>
            <a:endParaRPr/>
          </a:p>
        </p:txBody>
      </p:sp>
      <p:sp>
        <p:nvSpPr>
          <p:cNvPr id="42" name="Rounded Rectangle 41"/>
          <p:cNvSpPr/>
          <p:nvPr/>
        </p:nvSpPr>
        <p:spPr bwMode="auto">
          <a:xfrm>
            <a:off x="10140696" y="5413248"/>
            <a:ext cx="960120" cy="384048"/>
          </a:xfrm>
          <a:prstGeom prst="roundRect">
            <a:avLst>
              <a:gd name="adj" fmla="val 16667"/>
            </a:avLst>
          </a:prstGeom>
          <a:solidFill>
            <a:srgbClr val="161723"/>
          </a:solidFill>
          <a:ln w="10160">
            <a:solidFill>
              <a:srgbClr val="534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10186416" y="5477255"/>
            <a:ext cx="868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50" b="1">
                <a:solidFill>
                  <a:srgbClr val="F4F1FF"/>
                </a:solidFill>
                <a:latin typeface="Aptos"/>
              </a:rPr>
              <a:t>Ledger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10186416" y="5614416"/>
            <a:ext cx="868680" cy="100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sz="800" b="0">
                <a:solidFill>
                  <a:srgbClr val="9D9AB2"/>
                </a:solidFill>
                <a:latin typeface="Aptos"/>
              </a:rPr>
              <a:t>idempotent entry</a:t>
            </a:r>
            <a:endParaRPr/>
          </a:p>
        </p:txBody>
      </p:sp>
      <p:sp>
        <p:nvSpPr>
          <p:cNvPr id="1085991356" name="TextBox 2"/>
          <p:cNvSpPr txBox="1"/>
          <p:nvPr/>
        </p:nvSpPr>
        <p:spPr bwMode="auto">
          <a:xfrm flipH="0" flipV="0">
            <a:off x="10599612" y="146304"/>
            <a:ext cx="88093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11/16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599698650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0132363" name="TextBox 7"/>
          <p:cNvSpPr txBox="1"/>
          <p:nvPr/>
        </p:nvSpPr>
        <p:spPr bwMode="auto">
          <a:xfrm flipH="0" flipV="0">
            <a:off x="566928" y="932688"/>
            <a:ext cx="1236128" cy="198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A879FF"/>
                </a:solidFill>
                <a:latin typeface="Aptos"/>
              </a:rPr>
              <a:t>ARCHITECTURE</a:t>
            </a:r>
            <a:endParaRPr/>
          </a:p>
        </p:txBody>
      </p:sp>
      <p:sp>
        <p:nvSpPr>
          <p:cNvPr id="664034603" name="TextBox 8"/>
          <p:cNvSpPr txBox="1"/>
          <p:nvPr/>
        </p:nvSpPr>
        <p:spPr bwMode="auto">
          <a:xfrm flipH="0" flipV="0">
            <a:off x="566927" y="1243583"/>
            <a:ext cx="3167826" cy="488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3200" b="1" i="0" u="none" strike="noStrike" cap="none" spc="0">
                <a:solidFill>
                  <a:srgbClr val="F5F2FF"/>
                </a:solidFill>
                <a:latin typeface="Aptos"/>
                <a:ea typeface="Aptos"/>
                <a:cs typeface="Aptos"/>
              </a:rPr>
              <a:t>Payment rails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707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 bwMode="auto">
          <a:xfrm>
            <a:off x="658368" y="2331720"/>
            <a:ext cx="10771632" cy="502920"/>
          </a:xfrm>
          <a:prstGeom prst="roundRect">
            <a:avLst>
              <a:gd name="adj" fmla="val 16667"/>
            </a:avLst>
          </a:prstGeom>
          <a:solidFill>
            <a:srgbClr val="0E0F17"/>
          </a:solidFill>
          <a:ln w="10160">
            <a:solidFill>
              <a:srgbClr val="302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886968" y="2496312"/>
            <a:ext cx="19202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50" b="1" i="0">
                <a:solidFill>
                  <a:srgbClr val="B57CFF"/>
                </a:solidFill>
                <a:latin typeface="Aptos"/>
              </a:defRPr>
            </a:pPr>
            <a:r>
              <a:rPr/>
              <a:t>ACCEPTED CALL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2084831" y="2468880"/>
            <a:ext cx="50292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250" b="0" i="0">
                <a:solidFill>
                  <a:srgbClr val="A6A2B4"/>
                </a:solidFill>
                <a:latin typeface="Aptos"/>
              </a:defRPr>
            </a:pPr>
            <a:r>
              <a:rPr/>
              <a:t>provider selected  ·  price accepted  ·  usage counted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658368" y="3035808"/>
            <a:ext cx="5166360" cy="2240280"/>
          </a:xfrm>
          <a:prstGeom prst="roundRect">
            <a:avLst>
              <a:gd name="adj" fmla="val 16667"/>
            </a:avLst>
          </a:prstGeom>
          <a:solidFill>
            <a:srgbClr val="0D0F18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Rounded Rectangle 14"/>
          <p:cNvSpPr/>
          <p:nvPr/>
        </p:nvSpPr>
        <p:spPr bwMode="auto">
          <a:xfrm>
            <a:off x="6263640" y="3035808"/>
            <a:ext cx="5166360" cy="2240280"/>
          </a:xfrm>
          <a:prstGeom prst="roundRect">
            <a:avLst>
              <a:gd name="adj" fmla="val 16667"/>
            </a:avLst>
          </a:prstGeom>
          <a:solidFill>
            <a:srgbClr val="0D0F18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914400" y="3273552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100" b="1" i="0">
                <a:solidFill>
                  <a:srgbClr val="B57CFF"/>
                </a:solidFill>
                <a:latin typeface="Aptos"/>
              </a:defRPr>
            </a:pPr>
            <a:r>
              <a:rPr/>
              <a:t>APP LEDGER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6537960" y="3273552"/>
            <a:ext cx="12344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100" b="1" i="0">
                <a:solidFill>
                  <a:srgbClr val="B57CFF"/>
                </a:solidFill>
                <a:latin typeface="Aptos"/>
              </a:defRPr>
            </a:pPr>
            <a:r>
              <a:rPr/>
              <a:t>PUBLIC PROOF</a:t>
            </a:r>
            <a:endParaRPr/>
          </a:p>
        </p:txBody>
      </p:sp>
      <p:sp>
        <p:nvSpPr>
          <p:cNvPr id="18" name="Rounded Rectangle 17"/>
          <p:cNvSpPr/>
          <p:nvPr/>
        </p:nvSpPr>
        <p:spPr bwMode="auto">
          <a:xfrm>
            <a:off x="914400" y="3639312"/>
            <a:ext cx="1600200" cy="841248"/>
          </a:xfrm>
          <a:prstGeom prst="roundRect">
            <a:avLst>
              <a:gd name="adj" fmla="val 16667"/>
            </a:avLst>
          </a:prstGeom>
          <a:solidFill>
            <a:srgbClr val="161826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987552" y="3822191"/>
            <a:ext cx="1444752" cy="215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1400" b="1" i="0">
                <a:solidFill>
                  <a:srgbClr val="F4F1FA"/>
                </a:solidFill>
                <a:latin typeface="Aptos"/>
              </a:defRPr>
            </a:pPr>
            <a:r>
              <a:rPr/>
              <a:t>Meter entry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1042416" y="4123944"/>
            <a:ext cx="133502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A6A2B4"/>
                </a:solidFill>
                <a:latin typeface="Aptos"/>
              </a:defRPr>
            </a:pPr>
            <a:r>
              <a:rPr/>
              <a:t>base + costPerCall × calls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3127248" y="3639312"/>
            <a:ext cx="2304288" cy="841248"/>
          </a:xfrm>
          <a:prstGeom prst="roundRect">
            <a:avLst>
              <a:gd name="adj" fmla="val 16667"/>
            </a:avLst>
          </a:prstGeom>
          <a:solidFill>
            <a:srgbClr val="161826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3291840" y="3803904"/>
            <a:ext cx="1975104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1400" b="1" i="0">
                <a:solidFill>
                  <a:srgbClr val="F4F1FA"/>
                </a:solidFill>
                <a:latin typeface="Aptos"/>
              </a:defRPr>
            </a:pPr>
            <a:r>
              <a:rPr/>
              <a:t>Arc spend ledger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3273552" y="4059936"/>
            <a:ext cx="20116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77FFDC"/>
                </a:solidFill>
                <a:latin typeface="Aptos"/>
              </a:defRPr>
            </a:pPr>
            <a:r>
              <a:rPr/>
              <a:t>PROVIDER_PAYMENT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3273552" y="4224528"/>
            <a:ext cx="20116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A6A2B4"/>
                </a:solidFill>
                <a:latin typeface="Aptos"/>
              </a:defRPr>
            </a:pPr>
            <a:r>
              <a:rPr/>
              <a:t>NANOPAYMENT_SETTLED</a:t>
            </a:r>
            <a:endParaRPr/>
          </a:p>
        </p:txBody>
      </p:sp>
      <p:sp>
        <p:nvSpPr>
          <p:cNvPr id="25" name="Right Arrow 24"/>
          <p:cNvSpPr/>
          <p:nvPr/>
        </p:nvSpPr>
        <p:spPr bwMode="auto">
          <a:xfrm>
            <a:off x="2514600" y="4023360"/>
            <a:ext cx="612648" cy="91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5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914400" y="4736592"/>
            <a:ext cx="44348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150" b="0" i="0">
                <a:solidFill>
                  <a:srgbClr val="A6A2B4"/>
                </a:solidFill>
                <a:latin typeface="Aptos"/>
              </a:defRPr>
            </a:pPr>
            <a:r>
              <a:rPr/>
              <a:t>Stored idempotently in .data/arc-spend-ledger.json</a:t>
            </a:r>
            <a:endParaRPr/>
          </a:p>
        </p:txBody>
      </p:sp>
      <p:sp>
        <p:nvSpPr>
          <p:cNvPr id="27" name="Rounded Rectangle 26"/>
          <p:cNvSpPr/>
          <p:nvPr/>
        </p:nvSpPr>
        <p:spPr bwMode="auto">
          <a:xfrm>
            <a:off x="6547104" y="3639312"/>
            <a:ext cx="1325880" cy="841248"/>
          </a:xfrm>
          <a:prstGeom prst="roundRect">
            <a:avLst>
              <a:gd name="adj" fmla="val 16667"/>
            </a:avLst>
          </a:prstGeom>
          <a:solidFill>
            <a:srgbClr val="161826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620255" y="3803904"/>
            <a:ext cx="1170432" cy="215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1400" b="1" i="0">
                <a:solidFill>
                  <a:srgbClr val="F4F1FA"/>
                </a:solidFill>
                <a:latin typeface="Aptos"/>
              </a:defRPr>
            </a:pPr>
            <a:r>
              <a:rPr/>
              <a:t>Transcript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675120" y="4105656"/>
            <a:ext cx="1060704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A6A2B4"/>
                </a:solidFill>
                <a:latin typeface="Aptos"/>
              </a:defRPr>
            </a:pPr>
            <a:r>
              <a:rPr/>
              <a:t>mission summary</a:t>
            </a:r>
            <a:endParaRPr/>
          </a:p>
        </p:txBody>
      </p:sp>
      <p:sp>
        <p:nvSpPr>
          <p:cNvPr id="30" name="Rounded Rectangle 29"/>
          <p:cNvSpPr/>
          <p:nvPr/>
        </p:nvSpPr>
        <p:spPr bwMode="auto">
          <a:xfrm>
            <a:off x="8211312" y="3639312"/>
            <a:ext cx="1234440" cy="841248"/>
          </a:xfrm>
          <a:prstGeom prst="roundRect">
            <a:avLst>
              <a:gd name="adj" fmla="val 16667"/>
            </a:avLst>
          </a:prstGeom>
          <a:solidFill>
            <a:srgbClr val="161826"/>
          </a:solidFill>
          <a:ln w="12700">
            <a:solidFill>
              <a:srgbClr val="595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8266175" y="3803904"/>
            <a:ext cx="1115568" cy="215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1400" b="1" i="0">
                <a:solidFill>
                  <a:srgbClr val="77FFDC"/>
                </a:solidFill>
                <a:latin typeface="Aptos"/>
              </a:defRPr>
            </a:pPr>
            <a:r>
              <a:rPr/>
              <a:t>Hash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8321039" y="4105656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A6A2B4"/>
                </a:solidFill>
                <a:latin typeface="Aptos"/>
              </a:defRPr>
            </a:pPr>
            <a:r>
              <a:rPr/>
              <a:t>allowlisted</a:t>
            </a:r>
            <a:endParaRPr/>
          </a:p>
        </p:txBody>
      </p:sp>
      <p:sp>
        <p:nvSpPr>
          <p:cNvPr id="33" name="Rounded Rectangle 32"/>
          <p:cNvSpPr/>
          <p:nvPr/>
        </p:nvSpPr>
        <p:spPr bwMode="auto">
          <a:xfrm>
            <a:off x="9784079" y="3547872"/>
            <a:ext cx="1325880" cy="1024128"/>
          </a:xfrm>
          <a:prstGeom prst="roundRect">
            <a:avLst>
              <a:gd name="adj" fmla="val 16667"/>
            </a:avLst>
          </a:prstGeom>
          <a:solidFill>
            <a:srgbClr val="161826"/>
          </a:solidFill>
          <a:ln w="13970">
            <a:solidFill>
              <a:srgbClr val="B5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9893808" y="3749039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1350" b="1" i="0">
                <a:solidFill>
                  <a:srgbClr val="F4F1FA"/>
                </a:solidFill>
                <a:latin typeface="Aptos"/>
              </a:defRPr>
            </a:pPr>
            <a:r>
              <a:rPr/>
              <a:t>HCS topic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9893808" y="4005072"/>
            <a:ext cx="10972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950" b="0" i="0">
                <a:solidFill>
                  <a:srgbClr val="77FFDC"/>
                </a:solidFill>
                <a:latin typeface="Aptos"/>
              </a:defRPr>
            </a:pPr>
            <a:r>
              <a:rPr/>
              <a:t>0.0.10426202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9893808" y="4160519"/>
            <a:ext cx="109728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 sz="850" b="0" i="0">
                <a:solidFill>
                  <a:srgbClr val="A6A2B4"/>
                </a:solidFill>
                <a:latin typeface="Aptos"/>
              </a:defRPr>
            </a:pPr>
            <a:r>
              <a:rPr/>
              <a:t>Hedera testnet</a:t>
            </a:r>
            <a:endParaRPr/>
          </a:p>
        </p:txBody>
      </p:sp>
      <p:sp>
        <p:nvSpPr>
          <p:cNvPr id="37" name="Right Arrow 36"/>
          <p:cNvSpPr/>
          <p:nvPr/>
        </p:nvSpPr>
        <p:spPr bwMode="auto">
          <a:xfrm>
            <a:off x="7872983" y="4023360"/>
            <a:ext cx="338328" cy="91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5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Right Arrow 37"/>
          <p:cNvSpPr/>
          <p:nvPr/>
        </p:nvSpPr>
        <p:spPr bwMode="auto">
          <a:xfrm>
            <a:off x="9445752" y="4023360"/>
            <a:ext cx="338328" cy="91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5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6547104" y="4736592"/>
            <a:ext cx="44805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150" b="0" i="0">
                <a:solidFill>
                  <a:srgbClr val="A6A2B4"/>
                </a:solidFill>
                <a:latin typeface="Aptos"/>
              </a:defRPr>
            </a:pPr>
            <a:r>
              <a:rPr/>
              <a:t>Public payload contains hashes and summaries only</a:t>
            </a:r>
            <a:endParaRPr/>
          </a:p>
        </p:txBody>
      </p:sp>
      <p:sp>
        <p:nvSpPr>
          <p:cNvPr id="40" name="Rounded Rectangle 39"/>
          <p:cNvSpPr/>
          <p:nvPr/>
        </p:nvSpPr>
        <p:spPr bwMode="auto">
          <a:xfrm>
            <a:off x="658368" y="5513832"/>
            <a:ext cx="10771632" cy="713232"/>
          </a:xfrm>
          <a:prstGeom prst="roundRect">
            <a:avLst>
              <a:gd name="adj" fmla="val 16667"/>
            </a:avLst>
          </a:prstGeom>
          <a:solidFill>
            <a:srgbClr val="0F101A"/>
          </a:solidFill>
          <a:ln w="11430">
            <a:solidFill>
              <a:srgbClr val="3D3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886968" y="571500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050" b="1" i="0">
                <a:solidFill>
                  <a:srgbClr val="B57CFF"/>
                </a:solidFill>
                <a:latin typeface="Aptos"/>
              </a:defRPr>
            </a:pPr>
            <a:r>
              <a:rPr/>
              <a:t>PAYLOAD</a:t>
            </a:r>
            <a:br>
              <a:rPr/>
            </a:br>
            <a:r>
              <a:rPr/>
              <a:t>GUARD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1993392" y="5669280"/>
            <a:ext cx="8138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350" b="0" i="0">
                <a:solidFill>
                  <a:srgbClr val="F4F1FA"/>
                </a:solidFill>
                <a:latin typeface="Aptos"/>
              </a:defRPr>
            </a:pPr>
            <a:r>
              <a:rPr/>
              <a:t>No bot tokens, API keys, private keys, or raw Telegram messages are stored.</a:t>
            </a: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1993392" y="5916168"/>
            <a:ext cx="813816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 sz="1150" b="0" i="0">
                <a:solidFill>
                  <a:srgbClr val="A6A2B4"/>
                </a:solidFill>
                <a:latin typeface="Aptos"/>
              </a:defRPr>
            </a:pPr>
            <a:r>
              <a:rPr/>
              <a:t>Result: UI transcript for review · JSON ledger for the app · HCS proof for verification</a:t>
            </a:r>
            <a:endParaRPr/>
          </a:p>
        </p:txBody>
      </p:sp>
      <p:sp>
        <p:nvSpPr>
          <p:cNvPr id="1072543712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12/16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1348230106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5155733" name="TextBox 7"/>
          <p:cNvSpPr txBox="1"/>
          <p:nvPr/>
        </p:nvSpPr>
        <p:spPr bwMode="auto">
          <a:xfrm flipH="0" flipV="0">
            <a:off x="566928" y="932688"/>
            <a:ext cx="1236488" cy="198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A879FF"/>
                </a:solidFill>
                <a:latin typeface="Aptos"/>
              </a:rPr>
              <a:t>ARCHITECTURE</a:t>
            </a:r>
            <a:endParaRPr/>
          </a:p>
        </p:txBody>
      </p:sp>
      <p:sp>
        <p:nvSpPr>
          <p:cNvPr id="1072496675" name="TextBox 8"/>
          <p:cNvSpPr txBox="1"/>
          <p:nvPr/>
        </p:nvSpPr>
        <p:spPr bwMode="auto">
          <a:xfrm flipH="0" flipV="0">
            <a:off x="566926" y="1243583"/>
            <a:ext cx="4701456" cy="762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sz="3200" b="1" i="0" u="none" strike="noStrike" cap="none" spc="0">
                <a:solidFill>
                  <a:srgbClr val="F5F2FF"/>
                </a:solidFill>
                <a:latin typeface="Aptos"/>
                <a:ea typeface="Aptos"/>
                <a:cs typeface="Aptos"/>
              </a:rPr>
              <a:t>Audit and nanopayments</a:t>
            </a:r>
            <a:endParaRPr lang="en-US" sz="3200" b="1" i="0" u="none" strike="noStrike" cap="none" spc="0">
              <a:solidFill>
                <a:srgbClr val="F5F2FF"/>
              </a:solidFill>
              <a:latin typeface="Aptos"/>
              <a:cs typeface="Aptos"/>
            </a:endParaRPr>
          </a:p>
          <a:p>
            <a:pPr algn="l">
              <a:defRPr/>
            </a:pPr>
            <a:endParaRPr/>
          </a:p>
        </p:txBody>
      </p:sp>
      <p:sp>
        <p:nvSpPr>
          <p:cNvPr id="68167074" name="TextBox 5"/>
          <p:cNvSpPr txBox="1"/>
          <p:nvPr/>
        </p:nvSpPr>
        <p:spPr bwMode="auto">
          <a:xfrm flipH="0" flipV="0">
            <a:off x="585216" y="1787927"/>
            <a:ext cx="5365185" cy="22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lang="en-US" sz="1500" b="0" i="0" u="none" strike="noStrike" cap="none" spc="0">
                <a:solidFill>
                  <a:srgbClr val="D3CFE5"/>
                </a:solidFill>
                <a:latin typeface="Aptos"/>
                <a:ea typeface="Aptos"/>
                <a:cs typeface="Aptos"/>
              </a:rPr>
              <a:t>Every accepted paid call writes an app record and a public proof.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406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auto">
          <a:xfrm flipH="0" flipV="0">
            <a:off x="621791" y="517799"/>
            <a:ext cx="20124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B37AFF"/>
                </a:solidFill>
                <a:latin typeface="Aptos"/>
              </a:rPr>
              <a:t>ARCHITECTURE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585215" y="76345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ADA9BD"/>
                </a:solidFill>
                <a:latin typeface="Aptos"/>
              </a:rPr>
              <a:t>The full system in one view.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 flipH="0" flipV="0">
            <a:off x="621791" y="1117022"/>
            <a:ext cx="10954511" cy="5484945"/>
          </a:xfrm>
          <a:prstGeom prst="roundRect">
            <a:avLst>
              <a:gd name="adj" fmla="val 2000"/>
            </a:avLst>
          </a:prstGeom>
          <a:solidFill>
            <a:srgbClr val="0D101B"/>
          </a:solidFill>
          <a:ln w="13970">
            <a:solidFill>
              <a:srgbClr val="463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09cad774-b6b9-5a6f-bcb9-b32d893d9078.png"/>
          <p:cNvPicPr>
            <a:picLocks noChangeAspect="1"/>
          </p:cNvPicPr>
          <p:nvPr/>
        </p:nvPicPr>
        <p:blipFill>
          <a:blip r:embed="rId2"/>
          <a:srcRect l="0" t="6000" r="0" b="8500"/>
          <a:stretch/>
        </p:blipFill>
        <p:spPr bwMode="auto">
          <a:xfrm flipH="0" flipV="0">
            <a:off x="704087" y="1376795"/>
            <a:ext cx="10789920" cy="48664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 bwMode="auto">
          <a:xfrm>
            <a:off x="704088" y="1664208"/>
            <a:ext cx="10789920" cy="4864607"/>
          </a:xfrm>
          <a:prstGeom prst="roundRect">
            <a:avLst>
              <a:gd name="adj" fmla="val 1000"/>
            </a:avLst>
          </a:prstGeom>
          <a:noFill/>
          <a:ln w="10160">
            <a:solidFill>
              <a:srgbClr val="40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Rounded Rectangle 11"/>
          <p:cNvSpPr/>
          <p:nvPr/>
        </p:nvSpPr>
        <p:spPr bwMode="auto">
          <a:xfrm>
            <a:off x="868680" y="6364224"/>
            <a:ext cx="10460736" cy="164592"/>
          </a:xfrm>
          <a:prstGeom prst="roundRect">
            <a:avLst>
              <a:gd name="adj" fmla="val 3000"/>
            </a:avLst>
          </a:prstGeom>
          <a:solidFill>
            <a:srgbClr val="090C14"/>
          </a:solidFill>
          <a:ln w="10160">
            <a:solidFill>
              <a:srgbClr val="29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854072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13/16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898164634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406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 bwMode="auto">
          <a:xfrm>
            <a:off x="594360" y="6583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B37AFF"/>
                </a:solidFill>
                <a:latin typeface="Aptos"/>
              </a:rPr>
              <a:t>SAFETY AND SCOPE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94360" y="950976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800" b="1">
                <a:solidFill>
                  <a:srgbClr val="EEECF5"/>
                </a:solidFill>
                <a:latin typeface="Aptos"/>
              </a:rPr>
              <a:t>Safety and scope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12648" y="1389888"/>
            <a:ext cx="7772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>
                <a:solidFill>
                  <a:srgbClr val="A9A5B9"/>
                </a:solidFill>
                <a:latin typeface="Aptos"/>
              </a:rPr>
              <a:t>Testnet-only execution with explicit transfer gates.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594360" y="1783080"/>
            <a:ext cx="10954511" cy="493776"/>
          </a:xfrm>
          <a:prstGeom prst="roundRect">
            <a:avLst>
              <a:gd name="adj" fmla="val 3000"/>
            </a:avLst>
          </a:prstGeom>
          <a:solidFill>
            <a:srgbClr val="080A12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841248" y="1911095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B37AFF"/>
                </a:solidFill>
                <a:latin typeface="Aptos"/>
              </a:rPr>
              <a:t>RUN MODE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1920240" y="1883664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A9A5B9"/>
                </a:solidFill>
                <a:latin typeface="Aptos"/>
              </a:rPr>
              <a:t>ARC-TESTNET only  ·  simulation decisions  ·  no mainnet path exposed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9326880" y="1874519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300" b="0">
                <a:solidFill>
                  <a:srgbClr val="79F4DF"/>
                </a:solidFill>
                <a:latin typeface="Aptos"/>
              </a:rPr>
              <a:t>real transfers gated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594360" y="2514600"/>
            <a:ext cx="3337560" cy="1298448"/>
          </a:xfrm>
          <a:prstGeom prst="roundRect">
            <a:avLst>
              <a:gd name="adj" fmla="val 3500"/>
            </a:avLst>
          </a:prstGeom>
          <a:solidFill>
            <a:srgbClr val="121522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795528" y="27066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B37AFF"/>
                </a:solidFill>
                <a:latin typeface="Aptos"/>
              </a:rPr>
              <a:t>MAINNET LOCK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795528" y="2971800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EEECF5"/>
                </a:solidFill>
                <a:latin typeface="Aptos"/>
              </a:rPr>
              <a:t>mainnetDisabled = true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795528" y="35021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returned on every response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4297680" y="2514600"/>
            <a:ext cx="3337560" cy="1298448"/>
          </a:xfrm>
          <a:prstGeom prst="roundRect">
            <a:avLst>
              <a:gd name="adj" fmla="val 3500"/>
            </a:avLst>
          </a:prstGeom>
          <a:solidFill>
            <a:srgbClr val="121522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4498848" y="27066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B37AFF"/>
                </a:solidFill>
                <a:latin typeface="Aptos"/>
              </a:rPr>
              <a:t>TRADE LOCK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4498848" y="2971800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EEECF5"/>
                </a:solidFill>
                <a:latin typeface="Aptos"/>
              </a:rPr>
              <a:t>realTrade = false</a:t>
            </a:r>
            <a:br>
              <a:rPr sz="1400" b="1">
                <a:solidFill>
                  <a:srgbClr val="EEECF5"/>
                </a:solidFill>
                <a:latin typeface="Aptos"/>
              </a:rPr>
            </a:br>
            <a:r>
              <a:rPr sz="1400" b="1">
                <a:solidFill>
                  <a:srgbClr val="EEECF5"/>
                </a:solidFill>
                <a:latin typeface="Aptos"/>
              </a:rPr>
              <a:t>execution = disabled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4498848" y="35021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decision stays simulated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001000" y="2514600"/>
            <a:ext cx="3337560" cy="1298448"/>
          </a:xfrm>
          <a:prstGeom prst="roundRect">
            <a:avLst>
              <a:gd name="adj" fmla="val 3500"/>
            </a:avLst>
          </a:prstGeom>
          <a:solidFill>
            <a:srgbClr val="121522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8202168" y="2706624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>
                <a:solidFill>
                  <a:srgbClr val="B37AFF"/>
                </a:solidFill>
                <a:latin typeface="Aptos"/>
              </a:rPr>
              <a:t>TRANSFER GATE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8202168" y="2971800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50" b="1">
                <a:solidFill>
                  <a:srgbClr val="EEECF5"/>
                </a:solidFill>
                <a:latin typeface="Aptos"/>
              </a:rPr>
              <a:t>ARC_REAL_USDC_TRANSFER</a:t>
            </a:r>
            <a:br>
              <a:rPr sz="1250" b="1">
                <a:solidFill>
                  <a:srgbClr val="EEECF5"/>
                </a:solidFill>
                <a:latin typeface="Aptos"/>
              </a:rPr>
            </a:br>
            <a:r>
              <a:rPr sz="1250" b="1">
                <a:solidFill>
                  <a:srgbClr val="EEECF5"/>
                </a:solidFill>
                <a:latin typeface="Aptos"/>
              </a:rPr>
              <a:t>CONFIRM_REAL_TRANSFER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8202168" y="35021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required before testnet USDC moves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594360" y="4160519"/>
            <a:ext cx="5212080" cy="1554480"/>
          </a:xfrm>
          <a:prstGeom prst="roundRect">
            <a:avLst>
              <a:gd name="adj" fmla="val 3500"/>
            </a:avLst>
          </a:prstGeom>
          <a:solidFill>
            <a:srgbClr val="0D101B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868680" y="436168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B37AFF"/>
                </a:solidFill>
                <a:latin typeface="Aptos"/>
              </a:rPr>
              <a:t>LIVE IN THE DEMO</a:t>
            </a: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868680" y="46451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EEECF5"/>
                </a:solidFill>
                <a:latin typeface="Aptos"/>
              </a:rPr>
              <a:t>OpenRouter evaluations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4663440" y="46451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9F4DF"/>
                </a:solidFill>
                <a:latin typeface="Aptos"/>
              </a:rPr>
              <a:t>live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868680" y="48737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EEECF5"/>
                </a:solidFill>
                <a:latin typeface="Aptos"/>
              </a:rPr>
              <a:t>Arc spend authorization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4663440" y="48737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9F4DF"/>
                </a:solidFill>
                <a:latin typeface="Aptos"/>
              </a:rPr>
              <a:t>testnet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868680" y="51023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EEECF5"/>
                </a:solidFill>
                <a:latin typeface="Aptos"/>
              </a:rPr>
              <a:t>Hedera USDC x402 request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4663440" y="51023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9F4DF"/>
                </a:solidFill>
                <a:latin typeface="Aptos"/>
              </a:rPr>
              <a:t>receipt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868680" y="533095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50" b="0">
                <a:solidFill>
                  <a:srgbClr val="EEECF5"/>
                </a:solidFill>
                <a:latin typeface="Aptos"/>
              </a:rPr>
              <a:t>HCS proof + UI transcript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4663440" y="533095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79F4DF"/>
                </a:solidFill>
                <a:latin typeface="Aptos"/>
              </a:rPr>
              <a:t>visible</a:t>
            </a:r>
            <a:endParaRPr/>
          </a:p>
        </p:txBody>
      </p:sp>
      <p:sp>
        <p:nvSpPr>
          <p:cNvPr id="35" name="Rounded Rectangle 34"/>
          <p:cNvSpPr/>
          <p:nvPr/>
        </p:nvSpPr>
        <p:spPr bwMode="auto">
          <a:xfrm>
            <a:off x="6327648" y="4160519"/>
            <a:ext cx="5212080" cy="1554480"/>
          </a:xfrm>
          <a:prstGeom prst="roundRect">
            <a:avLst>
              <a:gd name="adj" fmla="val 3500"/>
            </a:avLst>
          </a:prstGeom>
          <a:solidFill>
            <a:srgbClr val="0D101B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6601968" y="436168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B37AFF"/>
                </a:solidFill>
                <a:latin typeface="Aptos"/>
              </a:rPr>
              <a:t>PAYLOAD GUARD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6601968" y="4681728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EEECF5"/>
                </a:solidFill>
                <a:latin typeface="Aptos"/>
              </a:rPr>
              <a:t>HCS payloads are allowlisted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9829800" y="4681728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hashes + summaries</a:t>
            </a: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6601968" y="4956048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EEECF5"/>
                </a:solidFill>
                <a:latin typeface="Aptos"/>
              </a:rPr>
              <a:t>No bot tokens or API keys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9829800" y="4956048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repo stays clean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6601968" y="5230368"/>
            <a:ext cx="30632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0">
                <a:solidFill>
                  <a:srgbClr val="EEECF5"/>
                </a:solidFill>
                <a:latin typeface="Aptos"/>
              </a:rPr>
              <a:t>Raw Telegram messages are not stored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9829800" y="5230368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000" b="0">
                <a:solidFill>
                  <a:srgbClr val="A9A5B9"/>
                </a:solidFill>
                <a:latin typeface="Aptos"/>
              </a:rPr>
              <a:t>redacted output</a:t>
            </a:r>
            <a:endParaRPr/>
          </a:p>
        </p:txBody>
      </p:sp>
      <p:sp>
        <p:nvSpPr>
          <p:cNvPr id="43" name="Rectangle 42"/>
          <p:cNvSpPr/>
          <p:nvPr/>
        </p:nvSpPr>
        <p:spPr bwMode="auto">
          <a:xfrm>
            <a:off x="594360" y="6108192"/>
            <a:ext cx="10954511" cy="16459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594360" y="6281928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79F4DF"/>
                </a:solidFill>
                <a:latin typeface="Aptos"/>
              </a:rPr>
              <a:t>Matoi runs real testnet payment and proof steps while keeping trading execution disabled.</a:t>
            </a:r>
            <a:endParaRPr/>
          </a:p>
        </p:txBody>
      </p:sp>
      <p:sp>
        <p:nvSpPr>
          <p:cNvPr id="769625657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14/16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320485048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406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 flipH="0" flipV="0">
            <a:off x="10599613" y="146304"/>
            <a:ext cx="879856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15/16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4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594360" y="6583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B37AFF"/>
                </a:solidFill>
                <a:latin typeface="Aptos"/>
              </a:rPr>
              <a:t>DOCS AND EVIDENCE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594360" y="950976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EEECF5"/>
                </a:solidFill>
                <a:latin typeface="Aptos"/>
              </a:rPr>
              <a:t>Docs and live evidence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612648" y="1389888"/>
            <a:ext cx="7772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500" b="0" i="0">
                <a:solidFill>
                  <a:srgbClr val="A9A5B9"/>
                </a:solidFill>
                <a:latin typeface="Aptos"/>
              </a:rPr>
              <a:t>Where reviewers can check the build, the tracks, and the live proof artifacts.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594360" y="1810512"/>
            <a:ext cx="5413248" cy="4407408"/>
          </a:xfrm>
          <a:prstGeom prst="roundRect">
            <a:avLst>
              <a:gd name="adj" fmla="val 3500"/>
            </a:avLst>
          </a:prstGeom>
          <a:solidFill>
            <a:srgbClr val="0D101B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868680" y="203911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B37AFF"/>
                </a:solidFill>
                <a:latin typeface="Aptos"/>
              </a:rPr>
              <a:t>README AND DOCS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868680" y="2377440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README.md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3246120" y="2377440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track fit, setup, architecture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868680" y="2770632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docs/ARC_TRACK.md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3246120" y="27706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Arc/Circle bounty mapping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868680" y="3163824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docs/HEDERA_TRACK.md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3246120" y="3163824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Hedera bounty mapping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68680" y="3557016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blocky402-real-setup.md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3246120" y="3557016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paid-request setup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868680" y="3950208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docs/SETUP.md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3246120" y="395020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per-integration wiring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868680" y="4343400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architecture.svg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3246120" y="4343400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full system diagram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868680" y="4736592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DEMO_SCRIPT.md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3246120" y="473659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voiceover and shot list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868680" y="5129783"/>
            <a:ext cx="2514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EEECF5"/>
                </a:solidFill>
                <a:latin typeface="Aptos"/>
              </a:rPr>
              <a:t>Technical submission doc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3246120" y="5129783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DOCX in submission package</a:t>
            </a:r>
            <a:endParaRPr/>
          </a:p>
        </p:txBody>
      </p:sp>
      <p:sp>
        <p:nvSpPr>
          <p:cNvPr id="27" name="Rounded Rectangle 26"/>
          <p:cNvSpPr/>
          <p:nvPr/>
        </p:nvSpPr>
        <p:spPr bwMode="auto">
          <a:xfrm>
            <a:off x="6236208" y="1810512"/>
            <a:ext cx="5312664" cy="4407408"/>
          </a:xfrm>
          <a:prstGeom prst="roundRect">
            <a:avLst>
              <a:gd name="adj" fmla="val 3500"/>
            </a:avLst>
          </a:prstGeom>
          <a:solidFill>
            <a:srgbClr val="0D101B"/>
          </a:solidFill>
          <a:ln w="12700">
            <a:solidFill>
              <a:srgbClr val="4338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510528" y="203911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B37AFF"/>
                </a:solidFill>
                <a:latin typeface="Aptos"/>
              </a:rPr>
              <a:t>LIVE PROOF ARTIFACTS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6510528" y="237744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GET /api/arc/status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9345168" y="23774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Circle wallet status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6510528" y="277063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GET /api/system/status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9345168" y="277063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Hedera readiness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6510528" y="3163824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POST /api/x402/blocky402/pay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9345168" y="3163824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paid request</a:t>
            </a: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6510528" y="355701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x402-ddefa10403571327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9345168" y="355701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sample receipt</a:t>
            </a:r>
            <a:endParaRPr/>
          </a:p>
        </p:txBody>
      </p:sp>
      <p:sp>
        <p:nvSpPr>
          <p:cNvPr id="37" name="TextBox 36"/>
          <p:cNvSpPr txBox="1"/>
          <p:nvPr/>
        </p:nvSpPr>
        <p:spPr bwMode="auto">
          <a:xfrm>
            <a:off x="6510528" y="39502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50" b="1" i="0">
                <a:solidFill>
                  <a:srgbClr val="79F4DF"/>
                </a:solidFill>
                <a:latin typeface="Aptos"/>
              </a:rPr>
              <a:t>0.0.10380366@1789189919.552662668</a:t>
            </a:r>
            <a:endParaRPr/>
          </a:p>
        </p:txBody>
      </p:sp>
      <p:sp>
        <p:nvSpPr>
          <p:cNvPr id="38" name="TextBox 37"/>
          <p:cNvSpPr txBox="1"/>
          <p:nvPr/>
        </p:nvSpPr>
        <p:spPr bwMode="auto">
          <a:xfrm>
            <a:off x="9345168" y="3950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USDC association tx</a:t>
            </a: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6510528" y="4343400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HCS topic 0.0.10426202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9345168" y="434340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public proof topic</a:t>
            </a:r>
            <a:endParaRPr/>
          </a:p>
        </p:txBody>
      </p:sp>
      <p:sp>
        <p:nvSpPr>
          <p:cNvPr id="41" name="TextBox 40"/>
          <p:cNvSpPr txBox="1"/>
          <p:nvPr/>
        </p:nvSpPr>
        <p:spPr bwMode="auto">
          <a:xfrm>
            <a:off x="6510528" y="473659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42 files / 91 tests passing</a:t>
            </a:r>
            <a:endParaRPr/>
          </a:p>
        </p:txBody>
      </p:sp>
      <p:sp>
        <p:nvSpPr>
          <p:cNvPr id="42" name="TextBox 41"/>
          <p:cNvSpPr txBox="1"/>
          <p:nvPr/>
        </p:nvSpPr>
        <p:spPr bwMode="auto">
          <a:xfrm>
            <a:off x="9345168" y="4736592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test suite</a:t>
            </a: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6510528" y="5129783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100" b="1" i="0">
                <a:solidFill>
                  <a:srgbClr val="79F4DF"/>
                </a:solidFill>
                <a:latin typeface="Aptos"/>
              </a:rPr>
              <a:t>SMOKE_HTTP_OK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9345168" y="5129783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A9A5B9"/>
                </a:solidFill>
                <a:latin typeface="Aptos"/>
              </a:rPr>
              <a:t>every build</a:t>
            </a:r>
            <a:endParaRPr/>
          </a:p>
        </p:txBody>
      </p:sp>
      <p:sp>
        <p:nvSpPr>
          <p:cNvPr id="45" name="Rounded Rectangle 44"/>
          <p:cNvSpPr/>
          <p:nvPr/>
        </p:nvSpPr>
        <p:spPr bwMode="auto">
          <a:xfrm>
            <a:off x="594360" y="6382512"/>
            <a:ext cx="10954511" cy="210312"/>
          </a:xfrm>
          <a:prstGeom prst="roundRect">
            <a:avLst>
              <a:gd name="adj" fmla="val 2000"/>
            </a:avLst>
          </a:prstGeom>
          <a:solidFill>
            <a:srgbClr val="080A12"/>
          </a:solidFill>
          <a:ln w="12700">
            <a:solidFill>
              <a:srgbClr val="24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TextBox 45"/>
          <p:cNvSpPr txBox="1"/>
          <p:nvPr/>
        </p:nvSpPr>
        <p:spPr bwMode="auto">
          <a:xfrm>
            <a:off x="850392" y="6414088"/>
            <a:ext cx="10378440" cy="15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1250" b="0" i="0">
                <a:solidFill>
                  <a:srgbClr val="A9A5B9"/>
                </a:solidFill>
                <a:latin typeface="Aptos"/>
              </a:rPr>
              <a:t>The README carries the full technical story; this deck keeps the reviewer path short.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4060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 flipH="0" flipV="0">
            <a:off x="957002" y="2334657"/>
            <a:ext cx="6352876" cy="1280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8400" b="1" i="0">
                <a:solidFill>
                  <a:srgbClr val="120C2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9646920" y="4224528"/>
            <a:ext cx="3657960" cy="2746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594360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 flipH="0" flipV="0">
            <a:off x="1508816" y="2819053"/>
            <a:ext cx="8660419" cy="109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7200" b="1" i="0">
                <a:solidFill>
                  <a:srgbClr val="EEECF5"/>
                </a:solidFill>
                <a:latin typeface="Aptos"/>
              </a:rPr>
              <a:t>Thanks </a:t>
            </a:r>
            <a:r>
              <a:rPr sz="7200" b="1" i="0">
                <a:solidFill>
                  <a:srgbClr val="EEECF5"/>
                </a:solidFill>
                <a:latin typeface="Aptos"/>
              </a:rPr>
              <a:t>for reading</a:t>
            </a:r>
            <a:endParaRPr sz="7200"/>
          </a:p>
        </p:txBody>
      </p:sp>
      <p:sp>
        <p:nvSpPr>
          <p:cNvPr id="9" name="TextBox 8"/>
          <p:cNvSpPr txBox="1"/>
          <p:nvPr/>
        </p:nvSpPr>
        <p:spPr bwMode="auto">
          <a:xfrm>
            <a:off x="3349682" y="3973068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2200" i="0">
                <a:solidFill>
                  <a:srgbClr val="CDC9DC"/>
                </a:solidFill>
                <a:latin typeface="Aptos"/>
              </a:rPr>
              <a:t>“The future is already here —</a:t>
            </a:r>
            <a:br>
              <a:rPr sz="2200" i="0">
                <a:solidFill>
                  <a:srgbClr val="CDC9DC"/>
                </a:solidFill>
                <a:latin typeface="Aptos"/>
              </a:rPr>
            </a:br>
            <a:r>
              <a:rPr sz="2200" i="0">
                <a:solidFill>
                  <a:srgbClr val="CDC9DC"/>
                </a:solidFill>
                <a:latin typeface="Aptos"/>
              </a:rPr>
              <a:t>it’s just not very evenly distributed.”</a:t>
            </a:r>
            <a:endParaRPr/>
          </a:p>
          <a:p>
            <a:pPr algn="l">
              <a:spcBef>
                <a:spcPts val="800"/>
              </a:spcBef>
              <a:defRPr/>
            </a:pPr>
            <a:r>
              <a:rPr sz="1400">
                <a:solidFill>
                  <a:srgbClr val="B37AFF"/>
                </a:solidFill>
                <a:latin typeface="Aptos"/>
              </a:rPr>
              <a:t>— William Gibson</a:t>
            </a:r>
            <a:endParaRPr/>
          </a:p>
        </p:txBody>
      </p:sp>
      <p:sp>
        <p:nvSpPr>
          <p:cNvPr id="10" name="Rectangle 9"/>
          <p:cNvSpPr/>
          <p:nvPr/>
        </p:nvSpPr>
        <p:spPr bwMode="auto">
          <a:xfrm>
            <a:off x="3349682" y="4673595"/>
            <a:ext cx="5394960" cy="27432"/>
          </a:xfrm>
          <a:prstGeom prst="rect">
            <a:avLst/>
          </a:prstGeom>
          <a:solidFill>
            <a:srgbClr val="B3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84847149" name="TextBox 2"/>
          <p:cNvSpPr txBox="1"/>
          <p:nvPr/>
        </p:nvSpPr>
        <p:spPr bwMode="auto">
          <a:xfrm flipH="0" flipV="0">
            <a:off x="10599612" y="146304"/>
            <a:ext cx="880575" cy="16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A9A5B9"/>
                </a:solidFill>
                <a:latin typeface="Aptos"/>
              </a:rPr>
              <a:t>16/16</a:t>
            </a:r>
            <a:r>
              <a:rPr lang="en-US" sz="1100" b="0" i="0" u="none" strike="noStrike" cap="none" spc="0">
                <a:solidFill>
                  <a:srgbClr val="A9A5B9"/>
                </a:solidFill>
                <a:latin typeface="Aptos"/>
                <a:ea typeface="Aptos"/>
                <a:cs typeface="Aptos"/>
              </a:rPr>
              <a:t> ·</a:t>
            </a:r>
            <a:r>
              <a:rPr sz="1100" b="0" i="0">
                <a:solidFill>
                  <a:srgbClr val="A9A5B9"/>
                </a:solidFill>
                <a:latin typeface="Aptos"/>
              </a:rPr>
              <a:t> </a:t>
            </a:r>
            <a:r>
              <a:rPr sz="1100" b="0" i="0">
                <a:solidFill>
                  <a:srgbClr val="A9A5B9"/>
                </a:solidFill>
                <a:latin typeface="Aptos"/>
              </a:rPr>
              <a:t>MATOI</a:t>
            </a:r>
            <a:endParaRPr/>
          </a:p>
        </p:txBody>
      </p:sp>
      <p:sp>
        <p:nvSpPr>
          <p:cNvPr id="297896463" name="Rectangle 3"/>
          <p:cNvSpPr/>
          <p:nvPr/>
        </p:nvSpPr>
        <p:spPr bwMode="auto">
          <a:xfrm>
            <a:off x="585216" y="420624"/>
            <a:ext cx="10972800" cy="13716"/>
          </a:xfrm>
          <a:prstGeom prst="rect">
            <a:avLst/>
          </a:prstGeom>
          <a:solidFill>
            <a:srgbClr val="43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ONLYOFFICE/7.4.1.36</Application>
  <DocSecurity>0</DocSecurity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dc:identifier/>
  <dc:language/>
  <cp:lastModifiedBy/>
  <cp:revision>2</cp:revision>
  <dcterms:created xsi:type="dcterms:W3CDTF">2013-01-27T09:14:16Z</dcterms:created>
  <dcterms:modified xsi:type="dcterms:W3CDTF">2026-09-12T16:26:26Z</dcterms:modified>
  <cp:category/>
  <cp:contentStatus/>
  <cp:version/>
</cp:coreProperties>
</file>